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d76fb4ce-2025-ed80-735e-ac85643174b5}">
          <p14:sldIdLst>
            <p14:sldId id="256"/>
          </p14:sldIdLst>
        </p14:section>
        <p14:section name="Tentang MODIO" id="{b7bd2e48-4132-c208-bbeb-b5bdb608a63d}">
          <p14:sldIdLst>
            <p14:sldId id="257"/>
            <p14:sldId id="258"/>
          </p14:sldIdLst>
        </p14:section>
        <p14:section name="Tujuan" id="{0e615021-c843-9c12-bc90-c1abe3fd7e67}">
          <p14:sldIdLst>
            <p14:sldId id="259"/>
            <p14:sldId id="260"/>
          </p14:sldIdLst>
        </p14:section>
        <p14:section name="Aplikasi" id="{8bdded41-173d-6f1e-50bb-31b34159b182}">
          <p14:sldIdLst>
            <p14:sldId id="261"/>
            <p14:sldId id="262"/>
          </p14:sldIdLst>
        </p14:section>
        <p14:section name="Penutup" id="{8963b143-6ada-b877-35eb-e3d741925c6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MODIO adalah aplikasi pencatatan keuangan untuk UMKM yang dirancang sejak awal agar bisa digunakan oleh penyandang tunanetra dan low vision. Di sebelah kanan adalah tampilan halaman Laporan Laba Rugi dari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hal yang membedakan MODIO: pencatatan dengan suara, aksesibilitas penuh untuk pembaca layar, dan laporan untung-rugi yang dibuat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mencatat keuangan itu penting, tapi sering diabaikan. Untuk pengguna tunanetra ada lima hambatan tambahan seperti di slide ini, mulai dari aplikasi yang tidak ramah pembaca layar sampai ketergantungan pada orang lain untuk data yang seharusnya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utama MODIO adalah kemandirian. Tujuan ini dipecah menjadi enam tujuan, dan masing-masing punya wujud nyata di aplikasi: suara untuk mencatat, aksesibilitas pembaca layar, tampilan sederhana, laporan untung-rugi, keamanan dengan PIN, dan kemampuan bekerja tanpa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Sasaran pengguna MODIO ada tiga kelompok. Fokus utamanya pelaku UMKM, dengan perhatian khusus pada pengguna tunanetra dan low vision. Screenshot di kanan menunjukkan halaman Pengaturan Aksesibilitas.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inti tujuan pertama: pencatatan tanpa mengetik. Pengguna cukup mengucapkan satu kalimat, AI mengurai kalimat itu menjadi data transaksi, pengguna memeriksa, lalu menyimpan. Jika tidak ada internet, ucapan disalin ke kolom keterangan agar bisa dilengkapi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Beberapa tampilan utama MODIO. Halaman Dashboard untuk ringkasan harian, Laporan Laba Rugi untuk rekap bulanan, dan formulir yang terisi otomatis dari suara.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MODIO dibuat agar pelaku UMKM, termasuk penyandang tunanetra dan low vision, bisa mencatat dan memahami keuangannya sendiri tanpa bergantung pada orang lain. Terima kasih, silakan bertanya.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mpu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658368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pic>
        <p:nvPicPr>
          <p:cNvPr id="3" name="Image 0" descr="C:/Users/Lenovo/StudioProjects/modio/assets/logo/logo.png">    </p:cNvPr>
          <p:cNvPicPr>
            <a:picLocks noChangeAspect="1"/>
          </p:cNvPicPr>
          <p:nvPr/>
        </p:nvPicPr>
        <p:blipFill>
          <a:blip r:embed="rId1"/>
          <a:stretch>
            <a:fillRect/>
          </a:stretch>
        </p:blipFill>
        <p:spPr>
          <a:xfrm>
            <a:off x="640080" y="6263640"/>
            <a:ext cx="292608" cy="292608"/>
          </a:xfrm>
          <a:prstGeom prst="rect">
            <a:avLst/>
          </a:prstGeom>
        </p:spPr>
      </p:pic>
      <p:sp>
        <p:nvSpPr>
          <p:cNvPr id="4" name="Text 0"/>
          <p:cNvSpPr txBox="1"/>
          <p:nvPr/>
        </p:nvSpPr>
        <p:spPr>
          <a:xfrm>
            <a:off x="1005840" y="6263640"/>
            <a:ext cx="1828800" cy="292608"/>
          </a:xfrm>
          <a:prstGeom prst="rect">
            <a:avLst/>
          </a:prstGeom>
          <a:noFill/>
          <a:ln/>
        </p:spPr>
        <p:txBody>
          <a:bodyPr wrap="square" lIns="0" tIns="0" rIns="0" bIns="0" rtlCol="0" anchor="ctr"/>
          <a:lstStyle/>
          <a:p>
            <a:pPr indent="0" marL="0">
              <a:buNone/>
            </a:pPr>
            <a:r>
              <a:rPr lang="en-US" sz="1100" b="1" dirty="0">
                <a:solidFill>
                  <a:schemeClr val="accent5"/>
                </a:solidFill>
              </a:rPr>
              <a:t>MODIO</a:t>
            </a:r>
            <a:endParaRPr lang="en-US" sz="11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enutu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Modio" descr="Logo Modio">    </p:cNvPr>
          <p:cNvPicPr>
            <a:picLocks noChangeAspect="1"/>
          </p:cNvPicPr>
          <p:nvPr/>
        </p:nvPicPr>
        <p:blipFill>
          <a:blip r:embed="rId1"/>
          <a:stretch>
            <a:fillRect/>
          </a:stretch>
        </p:blipFill>
        <p:spPr>
          <a:xfrm>
            <a:off x="731520" y="1051560"/>
            <a:ext cx="1143000" cy="1143000"/>
          </a:xfrm>
          <a:prstGeom prst="rect">
            <a:avLst/>
          </a:prstGeom>
        </p:spPr>
      </p:pic>
      <p:sp>
        <p:nvSpPr>
          <p:cNvPr id="3" name="Text 0"/>
          <p:cNvSpPr/>
          <p:nvPr>
            <p:ph idx="100" type="title" hasCustomPrompt="1"/>
          </p:nvPr>
        </p:nvSpPr>
        <p:spPr>
          <a:xfrm>
            <a:off x="731520" y="2331720"/>
            <a:ext cx="6583680" cy="1188720"/>
          </a:xfrm>
          <a:prstGeom prst="rect">
            <a:avLst/>
          </a:prstGeom>
          <a:noFill/>
          <a:ln/>
        </p:spPr>
        <p:txBody>
          <a:bodyPr wrap="square" lIns="0" tIns="0" rIns="0" bIns="0" rtlCol="0" anchor="ctr"/>
          <a:lstStyle/>
          <a:p>
            <a:pPr algn="l" indent="0" marL="0">
              <a:buNone/>
            </a:pPr>
            <a:r>
              <a:rPr lang="en-US" sz="6600" b="1" dirty="0">
                <a:solidFill>
                  <a:schemeClr val="bg1"/>
                </a:solidFill>
              </a:rPr>
              <a:t>MODIO</a:t>
            </a:r>
            <a:endParaRPr lang="en-US" sz="6600" dirty="0"/>
          </a:p>
        </p:txBody>
      </p:sp>
      <p:sp>
        <p:nvSpPr>
          <p:cNvPr id="4" name="Tagline"/>
          <p:cNvSpPr txBox="1"/>
          <p:nvPr/>
        </p:nvSpPr>
        <p:spPr>
          <a:xfrm>
            <a:off x="731520" y="3566160"/>
            <a:ext cx="6217920" cy="914400"/>
          </a:xfrm>
          <a:prstGeom prst="rect">
            <a:avLst/>
          </a:prstGeom>
          <a:noFill/>
          <a:ln/>
        </p:spPr>
        <p:txBody>
          <a:bodyPr wrap="square" lIns="0" tIns="0" rIns="0" bIns="0" rtlCol="0" anchor="t"/>
          <a:lstStyle/>
          <a:p>
            <a:pPr indent="0" marL="0">
              <a:buNone/>
            </a:pPr>
            <a:r>
              <a:rPr lang="en-US" sz="2600" dirty="0">
                <a:solidFill>
                  <a:schemeClr val="accent6"/>
                </a:solidFill>
              </a:rPr>
              <a:t>Pencatatan keuangan UMKM yang mudah dan aksesibel</a:t>
            </a:r>
            <a:endParaRPr lang="en-US" sz="2600" dirty="0"/>
          </a:p>
        </p:txBody>
      </p:sp>
      <p:sp>
        <p:nvSpPr>
          <p:cNvPr id="5" name="Subjudul"/>
          <p:cNvSpPr txBox="1"/>
          <p:nvPr/>
        </p:nvSpPr>
        <p:spPr>
          <a:xfrm>
            <a:off x="731520" y="4572000"/>
            <a:ext cx="6217920" cy="457200"/>
          </a:xfrm>
          <a:prstGeom prst="rect">
            <a:avLst/>
          </a:prstGeom>
          <a:noFill/>
          <a:ln/>
        </p:spPr>
        <p:txBody>
          <a:bodyPr wrap="square" lIns="0" tIns="0" rIns="0" bIns="0" rtlCol="0" anchor="ctr"/>
          <a:lstStyle/>
          <a:p>
            <a:pPr indent="0" marL="0">
              <a:buNone/>
            </a:pPr>
            <a:r>
              <a:rPr lang="en-US" sz="1800" i="1" dirty="0">
                <a:solidFill>
                  <a:schemeClr val="bg1"/>
                </a:solidFill>
              </a:rPr>
              <a:t>Dirancang agar bisa dipakai tanpa melihat layar</a:t>
            </a:r>
            <a:endParaRPr lang="en-US" sz="1800" dirty="0"/>
          </a:p>
        </p:txBody>
      </p:sp>
      <p:sp>
        <p:nvSpPr>
          <p:cNvPr id="6" name="Penyusun"/>
          <p:cNvSpPr txBox="1"/>
          <p:nvPr/>
        </p:nvSpPr>
        <p:spPr>
          <a:xfrm>
            <a:off x="731520" y="5989320"/>
            <a:ext cx="6217920" cy="365760"/>
          </a:xfrm>
          <a:prstGeom prst="rect">
            <a:avLst/>
          </a:prstGeom>
          <a:noFill/>
          <a:ln/>
        </p:spPr>
        <p:txBody>
          <a:bodyPr wrap="square" lIns="0" tIns="0" rIns="0" bIns="0" rtlCol="0" anchor="ctr"/>
          <a:lstStyle/>
          <a:p>
            <a:pPr indent="0" marL="0">
              <a:buNone/>
            </a:pPr>
            <a:r>
              <a:rPr lang="en-US" sz="1400" dirty="0">
                <a:solidFill>
                  <a:schemeClr val="accent6"/>
                </a:solidFill>
              </a:rPr>
              <a:t>Tim Modio  ·  Aplikasi versi 1.0.0</a:t>
            </a:r>
            <a:endParaRPr lang="en-US" sz="1400" dirty="0"/>
          </a:p>
        </p:txBody>
      </p:sp>
      <p:sp>
        <p:nvSpPr>
          <p:cNvPr id="7" name="Dekorasi"/>
          <p:cNvSpPr/>
          <p:nvPr/>
        </p:nvSpPr>
        <p:spPr>
          <a:xfrm>
            <a:off x="7498080" y="-822960"/>
            <a:ext cx="5669280" cy="5669280"/>
          </a:xfrm>
          <a:prstGeom prst="ellipse">
            <a:avLst/>
          </a:prstGeom>
          <a:solidFill>
            <a:schemeClr val="accent5"/>
          </a:solidFill>
          <a:ln w="12700">
            <a:solidFill>
              <a:schemeClr val="accent5"/>
            </a:solidFill>
            <a:prstDash val="solid"/>
          </a:ln>
        </p:spPr>
      </p:sp>
      <p:sp>
        <p:nvSpPr>
          <p:cNvPr id="8" name="Screenshot Laporan Laba Rugi bingkai"/>
          <p:cNvSpPr/>
          <p:nvPr/>
        </p:nvSpPr>
        <p:spPr>
          <a:xfrm>
            <a:off x="8549640" y="777240"/>
            <a:ext cx="2697480" cy="5294799"/>
          </a:xfrm>
          <a:prstGeom prst="roundRect">
            <a:avLst>
              <a:gd name="adj" fmla="val 9492"/>
            </a:avLst>
          </a:prstGeom>
          <a:solidFill>
            <a:schemeClr val="tx1"/>
          </a:solidFill>
          <a:ln w="12700">
            <a:solidFill>
              <a:schemeClr val="tx1"/>
            </a:solidFill>
            <a:prstDash val="solid"/>
          </a:ln>
          <a:effectLst>
            <a:outerShdw sx="100000" sy="100000" kx="0" ky="0" algn="bl" rotWithShape="0" blurRad="177800" dist="50800" dir="5400000">
              <a:srgbClr val="000000">
                <a:alpha val="30000"/>
              </a:srgbClr>
            </a:outerShdw>
          </a:effectLst>
        </p:spPr>
      </p:sp>
      <p:pic>
        <p:nvPicPr>
          <p:cNvPr id="9" name="Screenshot Laporan Laba Rugi" descr="Screenshot Laporan Laba Rugi">    </p:cNvPr>
          <p:cNvPicPr>
            <a:picLocks noChangeAspect="1"/>
          </p:cNvPicPr>
          <p:nvPr/>
        </p:nvPicPr>
        <p:blipFill>
          <a:blip r:embed="rId2"/>
          <a:stretch>
            <a:fillRect/>
          </a:stretch>
        </p:blipFill>
        <p:spPr>
          <a:xfrm>
            <a:off x="8631936" y="960120"/>
            <a:ext cx="2532888" cy="49016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Apa itu MODIO?</a:t>
            </a:r>
            <a:endParaRPr lang="en-US" sz="3600" dirty="0"/>
          </a:p>
        </p:txBody>
      </p:sp>
      <p:sp>
        <p:nvSpPr>
          <p:cNvPr id="3" name="Definisi"/>
          <p:cNvSpPr txBox="1"/>
          <p:nvPr/>
        </p:nvSpPr>
        <p:spPr>
          <a:xfrm>
            <a:off x="640080" y="1371600"/>
            <a:ext cx="10881360" cy="914400"/>
          </a:xfrm>
          <a:prstGeom prst="rect">
            <a:avLst/>
          </a:prstGeom>
          <a:noFill/>
          <a:ln/>
        </p:spPr>
        <p:txBody>
          <a:bodyPr wrap="square" lIns="0" tIns="0" rIns="0" bIns="0" rtlCol="0" anchor="t"/>
          <a:lstStyle/>
          <a:p>
            <a:pPr indent="0" marL="0">
              <a:buNone/>
            </a:pPr>
            <a:r>
              <a:rPr lang="en-US" sz="2000" dirty="0">
                <a:solidFill>
                  <a:schemeClr val="tx1"/>
                </a:solidFill>
              </a:rPr>
              <a:t>Aplikasi Android untuk mencatat pemasukan dan pengeluaran usaha mikro, kecil, dan menengah, lalu menyajikannya sebagai ringkasan harian dan laporan laba rugi bulanan.</a:t>
            </a:r>
            <a:endParaRPr lang="en-US" sz="2000" dirty="0"/>
          </a:p>
        </p:txBody>
      </p:sp>
      <p:sp>
        <p:nvSpPr>
          <p:cNvPr id="4" name="Kartu Catat dengan suara"/>
          <p:cNvSpPr/>
          <p:nvPr/>
        </p:nvSpPr>
        <p:spPr>
          <a:xfrm>
            <a:off x="640080" y="2606040"/>
            <a:ext cx="3474720" cy="3291840"/>
          </a:xfrm>
          <a:prstGeom prst="roundRect">
            <a:avLst>
              <a:gd name="adj" fmla="val 5000"/>
            </a:avLst>
          </a:prstGeom>
          <a:solidFill>
            <a:schemeClr val="bg2"/>
          </a:solidFill>
          <a:ln w="12700">
            <a:solidFill>
              <a:schemeClr val="bg2"/>
            </a:solidFill>
            <a:prstDash val="solid"/>
          </a:ln>
        </p:spPr>
      </p:sp>
      <p:sp>
        <p:nvSpPr>
          <p:cNvPr id="5" name="Catat dengan suara lingkaran"/>
          <p:cNvSpPr/>
          <p:nvPr/>
        </p:nvSpPr>
        <p:spPr>
          <a:xfrm>
            <a:off x="960120" y="2971800"/>
            <a:ext cx="868680" cy="868680"/>
          </a:xfrm>
          <a:prstGeom prst="ellipse">
            <a:avLst/>
          </a:prstGeom>
          <a:solidFill>
            <a:schemeClr val="tx2"/>
          </a:solidFill>
          <a:ln w="12700">
            <a:solidFill>
              <a:schemeClr val="tx2"/>
            </a:solidFill>
            <a:prstDash val="solid"/>
          </a:ln>
        </p:spPr>
      </p:sp>
      <p:pic>
        <p:nvPicPr>
          <p:cNvPr id="6" name="Catat dengan suara ikon" descr="preencoded.png">    </p:cNvPr>
          <p:cNvPicPr>
            <a:picLocks noChangeAspect="1"/>
          </p:cNvPicPr>
          <p:nvPr/>
        </p:nvPicPr>
        <p:blipFill>
          <a:blip r:embed="rId1"/>
          <a:stretch>
            <a:fillRect/>
          </a:stretch>
        </p:blipFill>
        <p:spPr>
          <a:xfrm>
            <a:off x="1151230" y="3162910"/>
            <a:ext cx="486461" cy="486461"/>
          </a:xfrm>
          <a:prstGeom prst="rect">
            <a:avLst/>
          </a:prstGeom>
        </p:spPr>
      </p:pic>
      <p:sp>
        <p:nvSpPr>
          <p:cNvPr id="7" name="Judul Catat dengan suara"/>
          <p:cNvSpPr txBox="1"/>
          <p:nvPr/>
        </p:nvSpPr>
        <p:spPr>
          <a:xfrm>
            <a:off x="960120" y="4023360"/>
            <a:ext cx="2834640" cy="685800"/>
          </a:xfrm>
          <a:prstGeom prst="rect">
            <a:avLst/>
          </a:prstGeom>
          <a:noFill/>
          <a:ln/>
        </p:spPr>
        <p:txBody>
          <a:bodyPr wrap="square" lIns="0" tIns="0" rIns="0" bIns="0" rtlCol="0" anchor="t"/>
          <a:lstStyle/>
          <a:p>
            <a:pPr indent="0" marL="0">
              <a:buNone/>
            </a:pPr>
            <a:r>
              <a:rPr lang="en-US" sz="2000" b="1" dirty="0">
                <a:solidFill>
                  <a:schemeClr val="tx2"/>
                </a:solidFill>
              </a:rPr>
              <a:t>Catat dengan suara</a:t>
            </a:r>
            <a:endParaRPr lang="en-US" sz="2000" dirty="0"/>
          </a:p>
        </p:txBody>
      </p:sp>
      <p:sp>
        <p:nvSpPr>
          <p:cNvPr id="8" name="Isi Catat dengan suara"/>
          <p:cNvSpPr txBox="1"/>
          <p:nvPr/>
        </p:nvSpPr>
        <p:spPr>
          <a:xfrm>
            <a:off x="960120" y="4709160"/>
            <a:ext cx="2834640" cy="1051560"/>
          </a:xfrm>
          <a:prstGeom prst="rect">
            <a:avLst/>
          </a:prstGeom>
          <a:noFill/>
          <a:ln/>
        </p:spPr>
        <p:txBody>
          <a:bodyPr wrap="square" lIns="0" tIns="0" rIns="0" bIns="0" rtlCol="0" anchor="t"/>
          <a:lstStyle/>
          <a:p>
            <a:pPr indent="0" marL="0">
              <a:buNone/>
            </a:pPr>
            <a:r>
              <a:rPr lang="en-US" sz="1500" dirty="0">
                <a:solidFill>
                  <a:schemeClr val="tx1"/>
                </a:solidFill>
              </a:rPr>
              <a:t>Ucapkan transaksi dengan kalimat biasa. AI mengisi formulirnya, Anda tinggal memeriksa dan menyimpan.</a:t>
            </a:r>
            <a:endParaRPr lang="en-US" sz="1500" dirty="0"/>
          </a:p>
        </p:txBody>
      </p:sp>
      <p:sp>
        <p:nvSpPr>
          <p:cNvPr id="9" name="Kartu Bisa dipakai tanpa melihat layar"/>
          <p:cNvSpPr/>
          <p:nvPr/>
        </p:nvSpPr>
        <p:spPr>
          <a:xfrm>
            <a:off x="4343400" y="2606040"/>
            <a:ext cx="3474720" cy="3291840"/>
          </a:xfrm>
          <a:prstGeom prst="roundRect">
            <a:avLst>
              <a:gd name="adj" fmla="val 5000"/>
            </a:avLst>
          </a:prstGeom>
          <a:solidFill>
            <a:schemeClr val="bg2"/>
          </a:solidFill>
          <a:ln w="12700">
            <a:solidFill>
              <a:schemeClr val="bg2"/>
            </a:solidFill>
            <a:prstDash val="solid"/>
          </a:ln>
        </p:spPr>
      </p:sp>
      <p:sp>
        <p:nvSpPr>
          <p:cNvPr id="10" name="Bisa dipakai tanpa melihat layar lingkaran"/>
          <p:cNvSpPr/>
          <p:nvPr/>
        </p:nvSpPr>
        <p:spPr>
          <a:xfrm>
            <a:off x="4663440" y="2971800"/>
            <a:ext cx="868680" cy="868680"/>
          </a:xfrm>
          <a:prstGeom prst="ellipse">
            <a:avLst/>
          </a:prstGeom>
          <a:solidFill>
            <a:schemeClr val="tx2"/>
          </a:solidFill>
          <a:ln w="12700">
            <a:solidFill>
              <a:schemeClr val="tx2"/>
            </a:solidFill>
            <a:prstDash val="solid"/>
          </a:ln>
        </p:spPr>
      </p:sp>
      <p:pic>
        <p:nvPicPr>
          <p:cNvPr id="11" name="Bisa dipakai tanpa melihat layar ikon" descr="preencoded.png">    </p:cNvPr>
          <p:cNvPicPr>
            <a:picLocks noChangeAspect="1"/>
          </p:cNvPicPr>
          <p:nvPr/>
        </p:nvPicPr>
        <p:blipFill>
          <a:blip r:embed="rId2"/>
          <a:stretch>
            <a:fillRect/>
          </a:stretch>
        </p:blipFill>
        <p:spPr>
          <a:xfrm>
            <a:off x="4854550" y="3162910"/>
            <a:ext cx="486461" cy="486461"/>
          </a:xfrm>
          <a:prstGeom prst="rect">
            <a:avLst/>
          </a:prstGeom>
        </p:spPr>
      </p:pic>
      <p:sp>
        <p:nvSpPr>
          <p:cNvPr id="12" name="Judul Bisa dipakai tanpa melihat layar"/>
          <p:cNvSpPr txBox="1"/>
          <p:nvPr/>
        </p:nvSpPr>
        <p:spPr>
          <a:xfrm>
            <a:off x="4663440" y="4023360"/>
            <a:ext cx="2834640" cy="685800"/>
          </a:xfrm>
          <a:prstGeom prst="rect">
            <a:avLst/>
          </a:prstGeom>
          <a:noFill/>
          <a:ln/>
        </p:spPr>
        <p:txBody>
          <a:bodyPr wrap="square" lIns="0" tIns="0" rIns="0" bIns="0" rtlCol="0" anchor="t"/>
          <a:lstStyle/>
          <a:p>
            <a:pPr indent="0" marL="0">
              <a:buNone/>
            </a:pPr>
            <a:r>
              <a:rPr lang="en-US" sz="2000" b="1" dirty="0">
                <a:solidFill>
                  <a:schemeClr val="tx2"/>
                </a:solidFill>
              </a:rPr>
              <a:t>Bisa dipakai tanpa melihat layar</a:t>
            </a:r>
            <a:endParaRPr lang="en-US" sz="2000" dirty="0"/>
          </a:p>
        </p:txBody>
      </p:sp>
      <p:sp>
        <p:nvSpPr>
          <p:cNvPr id="13" name="Isi Bisa dipakai tanpa melihat layar"/>
          <p:cNvSpPr txBox="1"/>
          <p:nvPr/>
        </p:nvSpPr>
        <p:spPr>
          <a:xfrm>
            <a:off x="4663440" y="4709160"/>
            <a:ext cx="2834640" cy="1051560"/>
          </a:xfrm>
          <a:prstGeom prst="rect">
            <a:avLst/>
          </a:prstGeom>
          <a:noFill/>
          <a:ln/>
        </p:spPr>
        <p:txBody>
          <a:bodyPr wrap="square" lIns="0" tIns="0" rIns="0" bIns="0" rtlCol="0" anchor="t"/>
          <a:lstStyle/>
          <a:p>
            <a:pPr indent="0" marL="0">
              <a:buNone/>
            </a:pPr>
            <a:r>
              <a:rPr lang="en-US" sz="1500" dirty="0">
                <a:solidFill>
                  <a:schemeClr val="tx1"/>
                </a:solidFill>
              </a:rPr>
              <a:t>Setiap tombol berlabel untuk TalkBack, status penting dibacakan, dan getaran menandai berhasil atau gagal.</a:t>
            </a:r>
            <a:endParaRPr lang="en-US" sz="1500" dirty="0"/>
          </a:p>
        </p:txBody>
      </p:sp>
      <p:sp>
        <p:nvSpPr>
          <p:cNvPr id="14" name="Kartu Untung atau rugi langsung terlihat"/>
          <p:cNvSpPr/>
          <p:nvPr/>
        </p:nvSpPr>
        <p:spPr>
          <a:xfrm>
            <a:off x="8046720" y="2606040"/>
            <a:ext cx="3474720" cy="3291840"/>
          </a:xfrm>
          <a:prstGeom prst="roundRect">
            <a:avLst>
              <a:gd name="adj" fmla="val 5000"/>
            </a:avLst>
          </a:prstGeom>
          <a:solidFill>
            <a:schemeClr val="bg2"/>
          </a:solidFill>
          <a:ln w="12700">
            <a:solidFill>
              <a:schemeClr val="bg2"/>
            </a:solidFill>
            <a:prstDash val="solid"/>
          </a:ln>
        </p:spPr>
      </p:sp>
      <p:sp>
        <p:nvSpPr>
          <p:cNvPr id="15" name="Untung atau rugi langsung terlihat lingkaran"/>
          <p:cNvSpPr/>
          <p:nvPr/>
        </p:nvSpPr>
        <p:spPr>
          <a:xfrm>
            <a:off x="8366760" y="2971800"/>
            <a:ext cx="868680" cy="868680"/>
          </a:xfrm>
          <a:prstGeom prst="ellipse">
            <a:avLst/>
          </a:prstGeom>
          <a:solidFill>
            <a:schemeClr val="tx2"/>
          </a:solidFill>
          <a:ln w="12700">
            <a:solidFill>
              <a:schemeClr val="tx2"/>
            </a:solidFill>
            <a:prstDash val="solid"/>
          </a:ln>
        </p:spPr>
      </p:sp>
      <p:pic>
        <p:nvPicPr>
          <p:cNvPr id="16" name="Untung atau rugi langsung terlihat ikon" descr="preencoded.png">    </p:cNvPr>
          <p:cNvPicPr>
            <a:picLocks noChangeAspect="1"/>
          </p:cNvPicPr>
          <p:nvPr/>
        </p:nvPicPr>
        <p:blipFill>
          <a:blip r:embed="rId3"/>
          <a:stretch>
            <a:fillRect/>
          </a:stretch>
        </p:blipFill>
        <p:spPr>
          <a:xfrm>
            <a:off x="8557870" y="3162910"/>
            <a:ext cx="486461" cy="486461"/>
          </a:xfrm>
          <a:prstGeom prst="rect">
            <a:avLst/>
          </a:prstGeom>
        </p:spPr>
      </p:pic>
      <p:sp>
        <p:nvSpPr>
          <p:cNvPr id="17" name="Judul Untung atau rugi langsung terlihat"/>
          <p:cNvSpPr txBox="1"/>
          <p:nvPr/>
        </p:nvSpPr>
        <p:spPr>
          <a:xfrm>
            <a:off x="8366760" y="4023360"/>
            <a:ext cx="2834640" cy="685800"/>
          </a:xfrm>
          <a:prstGeom prst="rect">
            <a:avLst/>
          </a:prstGeom>
          <a:noFill/>
          <a:ln/>
        </p:spPr>
        <p:txBody>
          <a:bodyPr wrap="square" lIns="0" tIns="0" rIns="0" bIns="0" rtlCol="0" anchor="t"/>
          <a:lstStyle/>
          <a:p>
            <a:pPr indent="0" marL="0">
              <a:buNone/>
            </a:pPr>
            <a:r>
              <a:rPr lang="en-US" sz="2000" b="1" dirty="0">
                <a:solidFill>
                  <a:schemeClr val="tx2"/>
                </a:solidFill>
              </a:rPr>
              <a:t>Untung atau rugi langsung terlihat</a:t>
            </a:r>
            <a:endParaRPr lang="en-US" sz="2000" dirty="0"/>
          </a:p>
        </p:txBody>
      </p:sp>
      <p:sp>
        <p:nvSpPr>
          <p:cNvPr id="18" name="Isi Untung atau rugi langsung terlihat"/>
          <p:cNvSpPr txBox="1"/>
          <p:nvPr/>
        </p:nvSpPr>
        <p:spPr>
          <a:xfrm>
            <a:off x="8366760" y="4709160"/>
            <a:ext cx="2834640" cy="1051560"/>
          </a:xfrm>
          <a:prstGeom prst="rect">
            <a:avLst/>
          </a:prstGeom>
          <a:noFill/>
          <a:ln/>
        </p:spPr>
        <p:txBody>
          <a:bodyPr wrap="square" lIns="0" tIns="0" rIns="0" bIns="0" rtlCol="0" anchor="t"/>
          <a:lstStyle/>
          <a:p>
            <a:pPr indent="0" marL="0">
              <a:buNone/>
            </a:pPr>
            <a:r>
              <a:rPr lang="en-US" sz="1500" dirty="0">
                <a:solidFill>
                  <a:schemeClr val="tx1"/>
                </a:solidFill>
              </a:rPr>
              <a:t>Ringkasan hari ini di Dashboard dan laporan laba rugi bulanan yang dirinci per kategori.</a:t>
            </a:r>
            <a:endParaRPr lang="en-US" sz="15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Mengapa MODIO dibuat?</a:t>
            </a:r>
            <a:endParaRPr lang="en-US" sz="3600" dirty="0"/>
          </a:p>
        </p:txBody>
      </p:sp>
      <p:sp>
        <p:nvSpPr>
          <p:cNvPr id="3" name="Aplikasi keuangan belum ramah pembaca layar lingkaran"/>
          <p:cNvSpPr/>
          <p:nvPr/>
        </p:nvSpPr>
        <p:spPr>
          <a:xfrm>
            <a:off x="640080" y="1417320"/>
            <a:ext cx="685800" cy="685800"/>
          </a:xfrm>
          <a:prstGeom prst="ellipse">
            <a:avLst/>
          </a:prstGeom>
          <a:solidFill>
            <a:schemeClr val="bg2"/>
          </a:solidFill>
          <a:ln w="12700">
            <a:solidFill>
              <a:schemeClr val="bg2"/>
            </a:solidFill>
            <a:prstDash val="solid"/>
          </a:ln>
        </p:spPr>
      </p:sp>
      <p:pic>
        <p:nvPicPr>
          <p:cNvPr id="4" name="Aplikasi keuangan belum ramah pembaca layar ikon" descr="preencoded.png">    </p:cNvPr>
          <p:cNvPicPr>
            <a:picLocks noChangeAspect="1"/>
          </p:cNvPicPr>
          <p:nvPr/>
        </p:nvPicPr>
        <p:blipFill>
          <a:blip r:embed="rId1"/>
          <a:stretch>
            <a:fillRect/>
          </a:stretch>
        </p:blipFill>
        <p:spPr>
          <a:xfrm>
            <a:off x="790956" y="1568196"/>
            <a:ext cx="384048" cy="384048"/>
          </a:xfrm>
          <a:prstGeom prst="rect">
            <a:avLst/>
          </a:prstGeom>
        </p:spPr>
      </p:pic>
      <p:sp>
        <p:nvSpPr>
          <p:cNvPr id="5" name="Masalah 1"/>
          <p:cNvSpPr txBox="1"/>
          <p:nvPr/>
        </p:nvSpPr>
        <p:spPr>
          <a:xfrm>
            <a:off x="1554480" y="1380744"/>
            <a:ext cx="5852160" cy="384048"/>
          </a:xfrm>
          <a:prstGeom prst="rect">
            <a:avLst/>
          </a:prstGeom>
          <a:noFill/>
          <a:ln/>
        </p:spPr>
        <p:txBody>
          <a:bodyPr wrap="square" lIns="0" tIns="0" rIns="0" bIns="0" rtlCol="0" anchor="t"/>
          <a:lstStyle/>
          <a:p>
            <a:pPr indent="0" marL="0">
              <a:buNone/>
            </a:pPr>
            <a:r>
              <a:rPr lang="en-US" sz="1800" b="1" dirty="0">
                <a:solidFill>
                  <a:schemeClr val="tx1"/>
                </a:solidFill>
              </a:rPr>
              <a:t>Aplikasi keuangan belum ramah pembaca layar</a:t>
            </a:r>
            <a:endParaRPr lang="en-US" sz="1800" dirty="0"/>
          </a:p>
        </p:txBody>
      </p:sp>
      <p:sp>
        <p:nvSpPr>
          <p:cNvPr id="6" name="Penjelasan 1"/>
          <p:cNvSpPr txBox="1"/>
          <p:nvPr/>
        </p:nvSpPr>
        <p:spPr>
          <a:xfrm>
            <a:off x="1554480" y="1764792"/>
            <a:ext cx="5852160" cy="365760"/>
          </a:xfrm>
          <a:prstGeom prst="rect">
            <a:avLst/>
          </a:prstGeom>
          <a:noFill/>
          <a:ln/>
        </p:spPr>
        <p:txBody>
          <a:bodyPr wrap="square" lIns="0" tIns="0" rIns="0" bIns="0" rtlCol="0" anchor="t"/>
          <a:lstStyle/>
          <a:p>
            <a:pPr indent="0" marL="0">
              <a:buNone/>
            </a:pPr>
            <a:r>
              <a:rPr lang="en-US" sz="1500" dirty="0">
                <a:solidFill>
                  <a:schemeClr val="accent5"/>
                </a:solidFill>
              </a:rPr>
              <a:t>Tombol tanpa label, urutan fokus acak, info hanya lewat warna atau grafik</a:t>
            </a:r>
            <a:endParaRPr lang="en-US" sz="1500" dirty="0"/>
          </a:p>
        </p:txBody>
      </p:sp>
      <p:sp>
        <p:nvSpPr>
          <p:cNvPr id="7" name="Mengetik di keyboard layar itu lambat lingkaran"/>
          <p:cNvSpPr/>
          <p:nvPr/>
        </p:nvSpPr>
        <p:spPr>
          <a:xfrm>
            <a:off x="640080" y="2359152"/>
            <a:ext cx="685800" cy="685800"/>
          </a:xfrm>
          <a:prstGeom prst="ellipse">
            <a:avLst/>
          </a:prstGeom>
          <a:solidFill>
            <a:schemeClr val="bg2"/>
          </a:solidFill>
          <a:ln w="12700">
            <a:solidFill>
              <a:schemeClr val="bg2"/>
            </a:solidFill>
            <a:prstDash val="solid"/>
          </a:ln>
        </p:spPr>
      </p:sp>
      <p:pic>
        <p:nvPicPr>
          <p:cNvPr id="8" name="Mengetik di keyboard layar itu lambat ikon" descr="preencoded.png">    </p:cNvPr>
          <p:cNvPicPr>
            <a:picLocks noChangeAspect="1"/>
          </p:cNvPicPr>
          <p:nvPr/>
        </p:nvPicPr>
        <p:blipFill>
          <a:blip r:embed="rId2"/>
          <a:stretch>
            <a:fillRect/>
          </a:stretch>
        </p:blipFill>
        <p:spPr>
          <a:xfrm>
            <a:off x="790956" y="2510028"/>
            <a:ext cx="384048" cy="384048"/>
          </a:xfrm>
          <a:prstGeom prst="rect">
            <a:avLst/>
          </a:prstGeom>
        </p:spPr>
      </p:pic>
      <p:sp>
        <p:nvSpPr>
          <p:cNvPr id="9" name="Masalah 2"/>
          <p:cNvSpPr txBox="1"/>
          <p:nvPr/>
        </p:nvSpPr>
        <p:spPr>
          <a:xfrm>
            <a:off x="1554480" y="2322576"/>
            <a:ext cx="5852160" cy="384048"/>
          </a:xfrm>
          <a:prstGeom prst="rect">
            <a:avLst/>
          </a:prstGeom>
          <a:noFill/>
          <a:ln/>
        </p:spPr>
        <p:txBody>
          <a:bodyPr wrap="square" lIns="0" tIns="0" rIns="0" bIns="0" rtlCol="0" anchor="t"/>
          <a:lstStyle/>
          <a:p>
            <a:pPr indent="0" marL="0">
              <a:buNone/>
            </a:pPr>
            <a:r>
              <a:rPr lang="en-US" sz="1800" b="1" dirty="0">
                <a:solidFill>
                  <a:schemeClr val="tx1"/>
                </a:solidFill>
              </a:rPr>
              <a:t>Mengetik di keyboard layar itu lambat</a:t>
            </a:r>
            <a:endParaRPr lang="en-US" sz="1800" dirty="0"/>
          </a:p>
        </p:txBody>
      </p:sp>
      <p:sp>
        <p:nvSpPr>
          <p:cNvPr id="10" name="Penjelasan 2"/>
          <p:cNvSpPr txBox="1"/>
          <p:nvPr/>
        </p:nvSpPr>
        <p:spPr>
          <a:xfrm>
            <a:off x="1554480" y="2706624"/>
            <a:ext cx="5852160" cy="365760"/>
          </a:xfrm>
          <a:prstGeom prst="rect">
            <a:avLst/>
          </a:prstGeom>
          <a:noFill/>
          <a:ln/>
        </p:spPr>
        <p:txBody>
          <a:bodyPr wrap="square" lIns="0" tIns="0" rIns="0" bIns="0" rtlCol="0" anchor="t"/>
          <a:lstStyle/>
          <a:p>
            <a:pPr indent="0" marL="0">
              <a:buNone/>
            </a:pPr>
            <a:r>
              <a:rPr lang="en-US" sz="1500" dirty="0">
                <a:solidFill>
                  <a:schemeClr val="accent5"/>
                </a:solidFill>
              </a:rPr>
              <a:t>Satu transaksi bisa butuh puluhan sentuhan</a:t>
            </a:r>
            <a:endParaRPr lang="en-US" sz="1500" dirty="0"/>
          </a:p>
        </p:txBody>
      </p:sp>
      <p:sp>
        <p:nvSpPr>
          <p:cNvPr id="11" name="Catatan kertas rawan salah dan hilang lingkaran"/>
          <p:cNvSpPr/>
          <p:nvPr/>
        </p:nvSpPr>
        <p:spPr>
          <a:xfrm>
            <a:off x="640080" y="3300984"/>
            <a:ext cx="685800" cy="685800"/>
          </a:xfrm>
          <a:prstGeom prst="ellipse">
            <a:avLst/>
          </a:prstGeom>
          <a:solidFill>
            <a:schemeClr val="bg2"/>
          </a:solidFill>
          <a:ln w="12700">
            <a:solidFill>
              <a:schemeClr val="bg2"/>
            </a:solidFill>
            <a:prstDash val="solid"/>
          </a:ln>
        </p:spPr>
      </p:sp>
      <p:pic>
        <p:nvPicPr>
          <p:cNvPr id="12" name="Catatan kertas rawan salah dan hilang ikon" descr="preencoded.png">    </p:cNvPr>
          <p:cNvPicPr>
            <a:picLocks noChangeAspect="1"/>
          </p:cNvPicPr>
          <p:nvPr/>
        </p:nvPicPr>
        <p:blipFill>
          <a:blip r:embed="rId3"/>
          <a:stretch>
            <a:fillRect/>
          </a:stretch>
        </p:blipFill>
        <p:spPr>
          <a:xfrm>
            <a:off x="790956" y="3451860"/>
            <a:ext cx="384048" cy="384048"/>
          </a:xfrm>
          <a:prstGeom prst="rect">
            <a:avLst/>
          </a:prstGeom>
        </p:spPr>
      </p:pic>
      <p:sp>
        <p:nvSpPr>
          <p:cNvPr id="13" name="Masalah 3"/>
          <p:cNvSpPr txBox="1"/>
          <p:nvPr/>
        </p:nvSpPr>
        <p:spPr>
          <a:xfrm>
            <a:off x="1554480" y="3264408"/>
            <a:ext cx="5852160" cy="384048"/>
          </a:xfrm>
          <a:prstGeom prst="rect">
            <a:avLst/>
          </a:prstGeom>
          <a:noFill/>
          <a:ln/>
        </p:spPr>
        <p:txBody>
          <a:bodyPr wrap="square" lIns="0" tIns="0" rIns="0" bIns="0" rtlCol="0" anchor="t"/>
          <a:lstStyle/>
          <a:p>
            <a:pPr indent="0" marL="0">
              <a:buNone/>
            </a:pPr>
            <a:r>
              <a:rPr lang="en-US" sz="1800" b="1" dirty="0">
                <a:solidFill>
                  <a:schemeClr val="tx1"/>
                </a:solidFill>
              </a:rPr>
              <a:t>Catatan kertas rawan salah dan hilang</a:t>
            </a:r>
            <a:endParaRPr lang="en-US" sz="1800" dirty="0"/>
          </a:p>
        </p:txBody>
      </p:sp>
      <p:sp>
        <p:nvSpPr>
          <p:cNvPr id="14" name="Penjelasan 3"/>
          <p:cNvSpPr txBox="1"/>
          <p:nvPr/>
        </p:nvSpPr>
        <p:spPr>
          <a:xfrm>
            <a:off x="1554480" y="3648456"/>
            <a:ext cx="5852160" cy="365760"/>
          </a:xfrm>
          <a:prstGeom prst="rect">
            <a:avLst/>
          </a:prstGeom>
          <a:noFill/>
          <a:ln/>
        </p:spPr>
        <p:txBody>
          <a:bodyPr wrap="square" lIns="0" tIns="0" rIns="0" bIns="0" rtlCol="0" anchor="t"/>
          <a:lstStyle/>
          <a:p>
            <a:pPr indent="0" marL="0">
              <a:buNone/>
            </a:pPr>
            <a:r>
              <a:rPr lang="en-US" sz="1500" dirty="0">
                <a:solidFill>
                  <a:schemeClr val="accent5"/>
                </a:solidFill>
              </a:rPr>
              <a:t>Sulit dijumlahkan dan tidak bisa dibaca tanpa bantuan</a:t>
            </a:r>
            <a:endParaRPr lang="en-US" sz="1500" dirty="0"/>
          </a:p>
        </p:txBody>
      </p:sp>
      <p:sp>
        <p:nvSpPr>
          <p:cNvPr id="15" name="Tidak ada gambaran untung dan rugi lingkaran"/>
          <p:cNvSpPr/>
          <p:nvPr/>
        </p:nvSpPr>
        <p:spPr>
          <a:xfrm>
            <a:off x="640080" y="4242816"/>
            <a:ext cx="685800" cy="685800"/>
          </a:xfrm>
          <a:prstGeom prst="ellipse">
            <a:avLst/>
          </a:prstGeom>
          <a:solidFill>
            <a:schemeClr val="bg2"/>
          </a:solidFill>
          <a:ln w="12700">
            <a:solidFill>
              <a:schemeClr val="bg2"/>
            </a:solidFill>
            <a:prstDash val="solid"/>
          </a:ln>
        </p:spPr>
      </p:sp>
      <p:pic>
        <p:nvPicPr>
          <p:cNvPr id="16" name="Tidak ada gambaran untung dan rugi ikon" descr="preencoded.png">    </p:cNvPr>
          <p:cNvPicPr>
            <a:picLocks noChangeAspect="1"/>
          </p:cNvPicPr>
          <p:nvPr/>
        </p:nvPicPr>
        <p:blipFill>
          <a:blip r:embed="rId4"/>
          <a:stretch>
            <a:fillRect/>
          </a:stretch>
        </p:blipFill>
        <p:spPr>
          <a:xfrm>
            <a:off x="790956" y="4393692"/>
            <a:ext cx="384048" cy="384048"/>
          </a:xfrm>
          <a:prstGeom prst="rect">
            <a:avLst/>
          </a:prstGeom>
        </p:spPr>
      </p:pic>
      <p:sp>
        <p:nvSpPr>
          <p:cNvPr id="17" name="Masalah 4"/>
          <p:cNvSpPr txBox="1"/>
          <p:nvPr/>
        </p:nvSpPr>
        <p:spPr>
          <a:xfrm>
            <a:off x="1554480" y="4206240"/>
            <a:ext cx="5852160" cy="384048"/>
          </a:xfrm>
          <a:prstGeom prst="rect">
            <a:avLst/>
          </a:prstGeom>
          <a:noFill/>
          <a:ln/>
        </p:spPr>
        <p:txBody>
          <a:bodyPr wrap="square" lIns="0" tIns="0" rIns="0" bIns="0" rtlCol="0" anchor="t"/>
          <a:lstStyle/>
          <a:p>
            <a:pPr indent="0" marL="0">
              <a:buNone/>
            </a:pPr>
            <a:r>
              <a:rPr lang="en-US" sz="1800" b="1" dirty="0">
                <a:solidFill>
                  <a:schemeClr val="tx1"/>
                </a:solidFill>
              </a:rPr>
              <a:t>Tidak ada gambaran untung dan rugi</a:t>
            </a:r>
            <a:endParaRPr lang="en-US" sz="1800" dirty="0"/>
          </a:p>
        </p:txBody>
      </p:sp>
      <p:sp>
        <p:nvSpPr>
          <p:cNvPr id="18" name="Penjelasan 4"/>
          <p:cNvSpPr txBox="1"/>
          <p:nvPr/>
        </p:nvSpPr>
        <p:spPr>
          <a:xfrm>
            <a:off x="1554480" y="4590288"/>
            <a:ext cx="5852160" cy="365760"/>
          </a:xfrm>
          <a:prstGeom prst="rect">
            <a:avLst/>
          </a:prstGeom>
          <a:noFill/>
          <a:ln/>
        </p:spPr>
        <p:txBody>
          <a:bodyPr wrap="square" lIns="0" tIns="0" rIns="0" bIns="0" rtlCol="0" anchor="t"/>
          <a:lstStyle/>
          <a:p>
            <a:pPr indent="0" marL="0">
              <a:buNone/>
            </a:pPr>
            <a:r>
              <a:rPr lang="en-US" sz="1500" dirty="0">
                <a:solidFill>
                  <a:schemeClr val="accent5"/>
                </a:solidFill>
              </a:rPr>
              <a:t>Tanpa rekap otomatis, pengeluaran terbesar tidak terlihat</a:t>
            </a:r>
            <a:endParaRPr lang="en-US" sz="1500" dirty="0"/>
          </a:p>
        </p:txBody>
      </p:sp>
      <p:sp>
        <p:nvSpPr>
          <p:cNvPr id="19" name="Bergantung pada orang lain lingkaran"/>
          <p:cNvSpPr/>
          <p:nvPr/>
        </p:nvSpPr>
        <p:spPr>
          <a:xfrm>
            <a:off x="640080" y="5184648"/>
            <a:ext cx="685800" cy="685800"/>
          </a:xfrm>
          <a:prstGeom prst="ellipse">
            <a:avLst/>
          </a:prstGeom>
          <a:solidFill>
            <a:schemeClr val="bg2"/>
          </a:solidFill>
          <a:ln w="12700">
            <a:solidFill>
              <a:schemeClr val="bg2"/>
            </a:solidFill>
            <a:prstDash val="solid"/>
          </a:ln>
        </p:spPr>
      </p:sp>
      <p:pic>
        <p:nvPicPr>
          <p:cNvPr id="20" name="Bergantung pada orang lain ikon" descr="preencoded.png">    </p:cNvPr>
          <p:cNvPicPr>
            <a:picLocks noChangeAspect="1"/>
          </p:cNvPicPr>
          <p:nvPr/>
        </p:nvPicPr>
        <p:blipFill>
          <a:blip r:embed="rId5"/>
          <a:stretch>
            <a:fillRect/>
          </a:stretch>
        </p:blipFill>
        <p:spPr>
          <a:xfrm>
            <a:off x="790956" y="5335524"/>
            <a:ext cx="384048" cy="384048"/>
          </a:xfrm>
          <a:prstGeom prst="rect">
            <a:avLst/>
          </a:prstGeom>
        </p:spPr>
      </p:pic>
      <p:sp>
        <p:nvSpPr>
          <p:cNvPr id="21" name="Masalah 5"/>
          <p:cNvSpPr txBox="1"/>
          <p:nvPr/>
        </p:nvSpPr>
        <p:spPr>
          <a:xfrm>
            <a:off x="1554480" y="5148072"/>
            <a:ext cx="5852160" cy="384048"/>
          </a:xfrm>
          <a:prstGeom prst="rect">
            <a:avLst/>
          </a:prstGeom>
          <a:noFill/>
          <a:ln/>
        </p:spPr>
        <p:txBody>
          <a:bodyPr wrap="square" lIns="0" tIns="0" rIns="0" bIns="0" rtlCol="0" anchor="t"/>
          <a:lstStyle/>
          <a:p>
            <a:pPr indent="0" marL="0">
              <a:buNone/>
            </a:pPr>
            <a:r>
              <a:rPr lang="en-US" sz="1800" b="1" dirty="0">
                <a:solidFill>
                  <a:schemeClr val="tx1"/>
                </a:solidFill>
              </a:rPr>
              <a:t>Bergantung pada orang lain</a:t>
            </a:r>
            <a:endParaRPr lang="en-US" sz="1800" dirty="0"/>
          </a:p>
        </p:txBody>
      </p:sp>
      <p:sp>
        <p:nvSpPr>
          <p:cNvPr id="22" name="Penjelasan 5"/>
          <p:cNvSpPr txBox="1"/>
          <p:nvPr/>
        </p:nvSpPr>
        <p:spPr>
          <a:xfrm>
            <a:off x="1554480" y="5532120"/>
            <a:ext cx="5852160" cy="365760"/>
          </a:xfrm>
          <a:prstGeom prst="rect">
            <a:avLst/>
          </a:prstGeom>
          <a:noFill/>
          <a:ln/>
        </p:spPr>
        <p:txBody>
          <a:bodyPr wrap="square" lIns="0" tIns="0" rIns="0" bIns="0" rtlCol="0" anchor="t"/>
          <a:lstStyle/>
          <a:p>
            <a:pPr indent="0" marL="0">
              <a:buNone/>
            </a:pPr>
            <a:r>
              <a:rPr lang="en-US" sz="1500" dirty="0">
                <a:solidFill>
                  <a:schemeClr val="accent5"/>
                </a:solidFill>
              </a:rPr>
              <a:t>Data keuangan yang pribadi harus dibacakan atau dicatat orang lain</a:t>
            </a:r>
            <a:endParaRPr lang="en-US" sz="1500" dirty="0"/>
          </a:p>
        </p:txBody>
      </p:sp>
      <p:sp>
        <p:nvSpPr>
          <p:cNvPr id="23" name="Kartu sorotan"/>
          <p:cNvSpPr/>
          <p:nvPr/>
        </p:nvSpPr>
        <p:spPr>
          <a:xfrm>
            <a:off x="7863840" y="1417320"/>
            <a:ext cx="3657600" cy="4480560"/>
          </a:xfrm>
          <a:prstGeom prst="roundRect">
            <a:avLst>
              <a:gd name="adj" fmla="val 5000"/>
            </a:avLst>
          </a:prstGeom>
          <a:solidFill>
            <a:schemeClr val="tx2"/>
          </a:solidFill>
          <a:ln w="12700">
            <a:solidFill>
              <a:schemeClr val="tx2"/>
            </a:solidFill>
            <a:prstDash val="solid"/>
          </a:ln>
        </p:spPr>
      </p:sp>
      <p:sp>
        <p:nvSpPr>
          <p:cNvPr id="24" name="Label sorotan"/>
          <p:cNvSpPr txBox="1"/>
          <p:nvPr/>
        </p:nvSpPr>
        <p:spPr>
          <a:xfrm>
            <a:off x="8183880" y="1737360"/>
            <a:ext cx="3017520" cy="365760"/>
          </a:xfrm>
          <a:prstGeom prst="rect">
            <a:avLst/>
          </a:prstGeom>
          <a:noFill/>
          <a:ln/>
        </p:spPr>
        <p:txBody>
          <a:bodyPr wrap="square" lIns="0" tIns="0" rIns="0" bIns="0" rtlCol="0" anchor="ctr"/>
          <a:lstStyle/>
          <a:p>
            <a:pPr indent="0" marL="0">
              <a:buNone/>
            </a:pPr>
            <a:r>
              <a:rPr lang="en-US" sz="1500" b="1" dirty="0">
                <a:solidFill>
                  <a:schemeClr val="accent6"/>
                </a:solidFill>
              </a:rPr>
              <a:t>Masalahnya</a:t>
            </a:r>
            <a:endParaRPr lang="en-US" sz="1500" dirty="0"/>
          </a:p>
        </p:txBody>
      </p:sp>
      <p:sp>
        <p:nvSpPr>
          <p:cNvPr id="25" name="Pernyataan masalah"/>
          <p:cNvSpPr txBox="1"/>
          <p:nvPr/>
        </p:nvSpPr>
        <p:spPr>
          <a:xfrm>
            <a:off x="8183880" y="2194560"/>
            <a:ext cx="3017520" cy="2011680"/>
          </a:xfrm>
          <a:prstGeom prst="rect">
            <a:avLst/>
          </a:prstGeom>
          <a:noFill/>
          <a:ln/>
        </p:spPr>
        <p:txBody>
          <a:bodyPr wrap="square" lIns="0" tIns="0" rIns="0" bIns="0" rtlCol="0" anchor="t"/>
          <a:lstStyle/>
          <a:p>
            <a:pPr indent="0" marL="0">
              <a:buNone/>
            </a:pPr>
            <a:r>
              <a:rPr lang="en-US" sz="2100" b="1" dirty="0">
                <a:solidFill>
                  <a:schemeClr val="bg1"/>
                </a:solidFill>
              </a:rPr>
              <a:t>Pelaku UMKM perlu mencatat keuangan setiap hari, tetapi banyak yang tidak melakukannya secara rutin.</a:t>
            </a:r>
            <a:endParaRPr lang="en-US" sz="2100" dirty="0"/>
          </a:p>
        </p:txBody>
      </p:sp>
      <p:sp>
        <p:nvSpPr>
          <p:cNvPr id="26" name="Penegasan"/>
          <p:cNvSpPr txBox="1"/>
          <p:nvPr/>
        </p:nvSpPr>
        <p:spPr>
          <a:xfrm>
            <a:off x="8183880" y="4343400"/>
            <a:ext cx="3017520" cy="1280160"/>
          </a:xfrm>
          <a:prstGeom prst="rect">
            <a:avLst/>
          </a:prstGeom>
          <a:noFill/>
          <a:ln/>
        </p:spPr>
        <p:txBody>
          <a:bodyPr wrap="square" lIns="0" tIns="0" rIns="0" bIns="0" rtlCol="0" anchor="t"/>
          <a:lstStyle/>
          <a:p>
            <a:pPr indent="0" marL="0">
              <a:buNone/>
            </a:pPr>
            <a:r>
              <a:rPr lang="en-US" sz="1700" i="1" dirty="0">
                <a:solidFill>
                  <a:schemeClr val="accent6"/>
                </a:solidFill>
              </a:rPr>
              <a:t>Bagi pelaku usaha tunanetra, kesulitannya jauh lebih besar.</a:t>
            </a:r>
            <a:endParaRPr lang="en-US" sz="17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Tujuan pembuatan aplikasi</a:t>
            </a:r>
            <a:endParaRPr lang="en-US" sz="3600" dirty="0"/>
          </a:p>
        </p:txBody>
      </p:sp>
      <p:sp>
        <p:nvSpPr>
          <p:cNvPr id="3" name="Tujuan utama"/>
          <p:cNvSpPr txBox="1"/>
          <p:nvPr/>
        </p:nvSpPr>
        <p:spPr>
          <a:xfrm>
            <a:off x="640080" y="1325880"/>
            <a:ext cx="10881360" cy="777240"/>
          </a:xfrm>
          <a:prstGeom prst="rect">
            <a:avLst/>
          </a:prstGeom>
          <a:noFill/>
          <a:ln/>
        </p:spPr>
        <p:txBody>
          <a:bodyPr wrap="square" lIns="0" tIns="0" rIns="0" bIns="0" rtlCol="0" anchor="t"/>
          <a:lstStyle/>
          <a:p>
            <a:pPr indent="0" marL="0">
              <a:buNone/>
            </a:pPr>
            <a:r>
              <a:rPr lang="en-US" sz="2000" i="1" dirty="0">
                <a:solidFill>
                  <a:schemeClr val="accent5"/>
                </a:solidFill>
              </a:rPr>
              <a:t>Membantu pelaku UMKM, termasuk penyandang tunanetra dan low vision, mencatat dan memahami keuangan usahanya secara mandiri.</a:t>
            </a:r>
            <a:endParaRPr lang="en-US" sz="2000" dirty="0"/>
          </a:p>
        </p:txBody>
      </p:sp>
      <p:sp>
        <p:nvSpPr>
          <p:cNvPr id="4" name="Tujuan 1"/>
          <p:cNvSpPr/>
          <p:nvPr/>
        </p:nvSpPr>
        <p:spPr>
          <a:xfrm>
            <a:off x="640080" y="224028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5" name="Catat cepat tanpa mengetik lingkaran"/>
          <p:cNvSpPr/>
          <p:nvPr/>
        </p:nvSpPr>
        <p:spPr>
          <a:xfrm>
            <a:off x="914400" y="2468880"/>
            <a:ext cx="640080" cy="640080"/>
          </a:xfrm>
          <a:prstGeom prst="ellipse">
            <a:avLst/>
          </a:prstGeom>
          <a:solidFill>
            <a:schemeClr val="bg2"/>
          </a:solidFill>
          <a:ln w="12700">
            <a:solidFill>
              <a:schemeClr val="bg2"/>
            </a:solidFill>
            <a:prstDash val="solid"/>
          </a:ln>
        </p:spPr>
      </p:sp>
      <p:pic>
        <p:nvPicPr>
          <p:cNvPr id="6" name="Catat cepat tanpa mengetik ikon" descr="preencoded.png">    </p:cNvPr>
          <p:cNvPicPr>
            <a:picLocks noChangeAspect="1"/>
          </p:cNvPicPr>
          <p:nvPr/>
        </p:nvPicPr>
        <p:blipFill>
          <a:blip r:embed="rId1"/>
          <a:stretch>
            <a:fillRect/>
          </a:stretch>
        </p:blipFill>
        <p:spPr>
          <a:xfrm>
            <a:off x="1055218" y="2609698"/>
            <a:ext cx="358445" cy="358445"/>
          </a:xfrm>
          <a:prstGeom prst="rect">
            <a:avLst/>
          </a:prstGeom>
        </p:spPr>
      </p:pic>
      <p:sp>
        <p:nvSpPr>
          <p:cNvPr id="7" name="Nomor tujuan 1"/>
          <p:cNvSpPr txBox="1"/>
          <p:nvPr/>
        </p:nvSpPr>
        <p:spPr>
          <a:xfrm>
            <a:off x="3291840" y="246888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01</a:t>
            </a:r>
            <a:endParaRPr lang="en-US" sz="1600" dirty="0"/>
          </a:p>
        </p:txBody>
      </p:sp>
      <p:sp>
        <p:nvSpPr>
          <p:cNvPr id="8" name="Judul tujuan 1"/>
          <p:cNvSpPr txBox="1"/>
          <p:nvPr/>
        </p:nvSpPr>
        <p:spPr>
          <a:xfrm>
            <a:off x="914400" y="317296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Catat cepat tanpa mengetik</a:t>
            </a:r>
            <a:endParaRPr lang="en-US" sz="1700" dirty="0"/>
          </a:p>
        </p:txBody>
      </p:sp>
      <p:sp>
        <p:nvSpPr>
          <p:cNvPr id="9" name="Wujud tujuan 1"/>
          <p:cNvSpPr txBox="1"/>
          <p:nvPr/>
        </p:nvSpPr>
        <p:spPr>
          <a:xfrm>
            <a:off x="914400" y="3520440"/>
            <a:ext cx="2926080" cy="457200"/>
          </a:xfrm>
          <a:prstGeom prst="rect">
            <a:avLst/>
          </a:prstGeom>
          <a:noFill/>
          <a:ln/>
        </p:spPr>
        <p:txBody>
          <a:bodyPr wrap="square" lIns="0" tIns="0" rIns="0" bIns="0" rtlCol="0" anchor="t"/>
          <a:lstStyle/>
          <a:p>
            <a:pPr indent="0" marL="0">
              <a:buNone/>
            </a:pPr>
            <a:r>
              <a:rPr lang="en-US" sz="1400" dirty="0">
                <a:solidFill>
                  <a:schemeClr val="tx1"/>
                </a:solidFill>
              </a:rPr>
              <a:t>Transaksi diucapkan, AI mengisi formulir</a:t>
            </a:r>
            <a:endParaRPr lang="en-US" sz="1400" dirty="0"/>
          </a:p>
        </p:txBody>
      </p:sp>
      <p:sp>
        <p:nvSpPr>
          <p:cNvPr id="10" name="Tujuan 2"/>
          <p:cNvSpPr/>
          <p:nvPr/>
        </p:nvSpPr>
        <p:spPr>
          <a:xfrm>
            <a:off x="4343400" y="224028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11" name="Bisa dipakai tanpa melihat layar lingkaran"/>
          <p:cNvSpPr/>
          <p:nvPr/>
        </p:nvSpPr>
        <p:spPr>
          <a:xfrm>
            <a:off x="4617720" y="2468880"/>
            <a:ext cx="640080" cy="640080"/>
          </a:xfrm>
          <a:prstGeom prst="ellipse">
            <a:avLst/>
          </a:prstGeom>
          <a:solidFill>
            <a:schemeClr val="bg2"/>
          </a:solidFill>
          <a:ln w="12700">
            <a:solidFill>
              <a:schemeClr val="bg2"/>
            </a:solidFill>
            <a:prstDash val="solid"/>
          </a:ln>
        </p:spPr>
      </p:sp>
      <p:pic>
        <p:nvPicPr>
          <p:cNvPr id="12" name="Bisa dipakai tanpa melihat layar ikon" descr="preencoded.png">    </p:cNvPr>
          <p:cNvPicPr>
            <a:picLocks noChangeAspect="1"/>
          </p:cNvPicPr>
          <p:nvPr/>
        </p:nvPicPr>
        <p:blipFill>
          <a:blip r:embed="rId2"/>
          <a:stretch>
            <a:fillRect/>
          </a:stretch>
        </p:blipFill>
        <p:spPr>
          <a:xfrm>
            <a:off x="4758538" y="2609698"/>
            <a:ext cx="358445" cy="358445"/>
          </a:xfrm>
          <a:prstGeom prst="rect">
            <a:avLst/>
          </a:prstGeom>
        </p:spPr>
      </p:pic>
      <p:sp>
        <p:nvSpPr>
          <p:cNvPr id="13" name="Nomor tujuan 2"/>
          <p:cNvSpPr txBox="1"/>
          <p:nvPr/>
        </p:nvSpPr>
        <p:spPr>
          <a:xfrm>
            <a:off x="6995160" y="246888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02</a:t>
            </a:r>
            <a:endParaRPr lang="en-US" sz="1600" dirty="0"/>
          </a:p>
        </p:txBody>
      </p:sp>
      <p:sp>
        <p:nvSpPr>
          <p:cNvPr id="14" name="Judul tujuan 2"/>
          <p:cNvSpPr txBox="1"/>
          <p:nvPr/>
        </p:nvSpPr>
        <p:spPr>
          <a:xfrm>
            <a:off x="4617720" y="317296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Bisa dipakai tanpa melihat layar</a:t>
            </a:r>
            <a:endParaRPr lang="en-US" sz="1700" dirty="0"/>
          </a:p>
        </p:txBody>
      </p:sp>
      <p:sp>
        <p:nvSpPr>
          <p:cNvPr id="15" name="Wujud tujuan 2"/>
          <p:cNvSpPr txBox="1"/>
          <p:nvPr/>
        </p:nvSpPr>
        <p:spPr>
          <a:xfrm>
            <a:off x="4617720" y="3520440"/>
            <a:ext cx="2926080" cy="457200"/>
          </a:xfrm>
          <a:prstGeom prst="rect">
            <a:avLst/>
          </a:prstGeom>
          <a:noFill/>
          <a:ln/>
        </p:spPr>
        <p:txBody>
          <a:bodyPr wrap="square" lIns="0" tIns="0" rIns="0" bIns="0" rtlCol="0" anchor="t"/>
          <a:lstStyle/>
          <a:p>
            <a:pPr indent="0" marL="0">
              <a:buNone/>
            </a:pPr>
            <a:r>
              <a:rPr lang="en-US" sz="1400" dirty="0">
                <a:solidFill>
                  <a:schemeClr val="tx1"/>
                </a:solidFill>
              </a:rPr>
              <a:t>Label pembaca layar, pengumuman status, getaran</a:t>
            </a:r>
            <a:endParaRPr lang="en-US" sz="1400" dirty="0"/>
          </a:p>
        </p:txBody>
      </p:sp>
      <p:sp>
        <p:nvSpPr>
          <p:cNvPr id="16" name="Tujuan 3"/>
          <p:cNvSpPr/>
          <p:nvPr/>
        </p:nvSpPr>
        <p:spPr>
          <a:xfrm>
            <a:off x="8046720" y="224028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17" name="Mudah dipahami lingkaran"/>
          <p:cNvSpPr/>
          <p:nvPr/>
        </p:nvSpPr>
        <p:spPr>
          <a:xfrm>
            <a:off x="8321040" y="2468880"/>
            <a:ext cx="640080" cy="640080"/>
          </a:xfrm>
          <a:prstGeom prst="ellipse">
            <a:avLst/>
          </a:prstGeom>
          <a:solidFill>
            <a:schemeClr val="bg2"/>
          </a:solidFill>
          <a:ln w="12700">
            <a:solidFill>
              <a:schemeClr val="bg2"/>
            </a:solidFill>
            <a:prstDash val="solid"/>
          </a:ln>
        </p:spPr>
      </p:sp>
      <p:pic>
        <p:nvPicPr>
          <p:cNvPr id="18" name="Mudah dipahami ikon" descr="preencoded.png">    </p:cNvPr>
          <p:cNvPicPr>
            <a:picLocks noChangeAspect="1"/>
          </p:cNvPicPr>
          <p:nvPr/>
        </p:nvPicPr>
        <p:blipFill>
          <a:blip r:embed="rId3"/>
          <a:stretch>
            <a:fillRect/>
          </a:stretch>
        </p:blipFill>
        <p:spPr>
          <a:xfrm>
            <a:off x="8461858" y="2609698"/>
            <a:ext cx="358445" cy="358445"/>
          </a:xfrm>
          <a:prstGeom prst="rect">
            <a:avLst/>
          </a:prstGeom>
        </p:spPr>
      </p:pic>
      <p:sp>
        <p:nvSpPr>
          <p:cNvPr id="19" name="Nomor tujuan 3"/>
          <p:cNvSpPr txBox="1"/>
          <p:nvPr/>
        </p:nvSpPr>
        <p:spPr>
          <a:xfrm>
            <a:off x="10698480" y="246888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03</a:t>
            </a:r>
            <a:endParaRPr lang="en-US" sz="1600" dirty="0"/>
          </a:p>
        </p:txBody>
      </p:sp>
      <p:sp>
        <p:nvSpPr>
          <p:cNvPr id="20" name="Judul tujuan 3"/>
          <p:cNvSpPr txBox="1"/>
          <p:nvPr/>
        </p:nvSpPr>
        <p:spPr>
          <a:xfrm>
            <a:off x="8321040" y="317296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Mudah dipahami</a:t>
            </a:r>
            <a:endParaRPr lang="en-US" sz="1700" dirty="0"/>
          </a:p>
        </p:txBody>
      </p:sp>
      <p:sp>
        <p:nvSpPr>
          <p:cNvPr id="21" name="Wujud tujuan 3"/>
          <p:cNvSpPr txBox="1"/>
          <p:nvPr/>
        </p:nvSpPr>
        <p:spPr>
          <a:xfrm>
            <a:off x="8321040" y="3520440"/>
            <a:ext cx="2926080" cy="457200"/>
          </a:xfrm>
          <a:prstGeom prst="rect">
            <a:avLst/>
          </a:prstGeom>
          <a:noFill/>
          <a:ln/>
        </p:spPr>
        <p:txBody>
          <a:bodyPr wrap="square" lIns="0" tIns="0" rIns="0" bIns="0" rtlCol="0" anchor="t"/>
          <a:lstStyle/>
          <a:p>
            <a:pPr indent="0" marL="0">
              <a:buNone/>
            </a:pPr>
            <a:r>
              <a:rPr lang="en-US" sz="1400" dirty="0">
                <a:solidFill>
                  <a:schemeClr val="tx1"/>
                </a:solidFill>
              </a:rPr>
              <a:t>Periode dibatasi tiga: Hari Ini, Tahun Ini, Riwayat</a:t>
            </a:r>
            <a:endParaRPr lang="en-US" sz="1400" dirty="0"/>
          </a:p>
        </p:txBody>
      </p:sp>
      <p:sp>
        <p:nvSpPr>
          <p:cNvPr id="22" name="Tujuan 4"/>
          <p:cNvSpPr/>
          <p:nvPr/>
        </p:nvSpPr>
        <p:spPr>
          <a:xfrm>
            <a:off x="640080" y="425196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23" name="Gambaran untung dan rugi lingkaran"/>
          <p:cNvSpPr/>
          <p:nvPr/>
        </p:nvSpPr>
        <p:spPr>
          <a:xfrm>
            <a:off x="914400" y="4480560"/>
            <a:ext cx="640080" cy="640080"/>
          </a:xfrm>
          <a:prstGeom prst="ellipse">
            <a:avLst/>
          </a:prstGeom>
          <a:solidFill>
            <a:schemeClr val="bg2"/>
          </a:solidFill>
          <a:ln w="12700">
            <a:solidFill>
              <a:schemeClr val="bg2"/>
            </a:solidFill>
            <a:prstDash val="solid"/>
          </a:ln>
        </p:spPr>
      </p:sp>
      <p:pic>
        <p:nvPicPr>
          <p:cNvPr id="24" name="Gambaran untung dan rugi ikon" descr="preencoded.png">    </p:cNvPr>
          <p:cNvPicPr>
            <a:picLocks noChangeAspect="1"/>
          </p:cNvPicPr>
          <p:nvPr/>
        </p:nvPicPr>
        <p:blipFill>
          <a:blip r:embed="rId4"/>
          <a:stretch>
            <a:fillRect/>
          </a:stretch>
        </p:blipFill>
        <p:spPr>
          <a:xfrm>
            <a:off x="1055218" y="4621378"/>
            <a:ext cx="358445" cy="358445"/>
          </a:xfrm>
          <a:prstGeom prst="rect">
            <a:avLst/>
          </a:prstGeom>
        </p:spPr>
      </p:pic>
      <p:sp>
        <p:nvSpPr>
          <p:cNvPr id="25" name="Nomor tujuan 4"/>
          <p:cNvSpPr txBox="1"/>
          <p:nvPr/>
        </p:nvSpPr>
        <p:spPr>
          <a:xfrm>
            <a:off x="3291840" y="448056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04</a:t>
            </a:r>
            <a:endParaRPr lang="en-US" sz="1600" dirty="0"/>
          </a:p>
        </p:txBody>
      </p:sp>
      <p:sp>
        <p:nvSpPr>
          <p:cNvPr id="26" name="Judul tujuan 4"/>
          <p:cNvSpPr txBox="1"/>
          <p:nvPr/>
        </p:nvSpPr>
        <p:spPr>
          <a:xfrm>
            <a:off x="914400" y="518464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Gambaran untung dan rugi</a:t>
            </a:r>
            <a:endParaRPr lang="en-US" sz="1700" dirty="0"/>
          </a:p>
        </p:txBody>
      </p:sp>
      <p:sp>
        <p:nvSpPr>
          <p:cNvPr id="27" name="Wujud tujuan 4"/>
          <p:cNvSpPr txBox="1"/>
          <p:nvPr/>
        </p:nvSpPr>
        <p:spPr>
          <a:xfrm>
            <a:off x="914400" y="5532120"/>
            <a:ext cx="2926080" cy="457200"/>
          </a:xfrm>
          <a:prstGeom prst="rect">
            <a:avLst/>
          </a:prstGeom>
          <a:noFill/>
          <a:ln/>
        </p:spPr>
        <p:txBody>
          <a:bodyPr wrap="square" lIns="0" tIns="0" rIns="0" bIns="0" rtlCol="0" anchor="t"/>
          <a:lstStyle/>
          <a:p>
            <a:pPr indent="0" marL="0">
              <a:buNone/>
            </a:pPr>
            <a:r>
              <a:rPr lang="en-US" sz="1400" dirty="0">
                <a:solidFill>
                  <a:schemeClr val="tx1"/>
                </a:solidFill>
              </a:rPr>
              <a:t>Ringkasan harian dan laba rugi bulanan per kategori</a:t>
            </a:r>
            <a:endParaRPr lang="en-US" sz="1400" dirty="0"/>
          </a:p>
        </p:txBody>
      </p:sp>
      <p:sp>
        <p:nvSpPr>
          <p:cNvPr id="28" name="Tujuan 5"/>
          <p:cNvSpPr/>
          <p:nvPr/>
        </p:nvSpPr>
        <p:spPr>
          <a:xfrm>
            <a:off x="4343400" y="425196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29" name="Catatan tetap rahasia lingkaran"/>
          <p:cNvSpPr/>
          <p:nvPr/>
        </p:nvSpPr>
        <p:spPr>
          <a:xfrm>
            <a:off x="4617720" y="4480560"/>
            <a:ext cx="640080" cy="640080"/>
          </a:xfrm>
          <a:prstGeom prst="ellipse">
            <a:avLst/>
          </a:prstGeom>
          <a:solidFill>
            <a:schemeClr val="bg2"/>
          </a:solidFill>
          <a:ln w="12700">
            <a:solidFill>
              <a:schemeClr val="bg2"/>
            </a:solidFill>
            <a:prstDash val="solid"/>
          </a:ln>
        </p:spPr>
      </p:sp>
      <p:pic>
        <p:nvPicPr>
          <p:cNvPr id="30" name="Catatan tetap rahasia ikon" descr="preencoded.png">    </p:cNvPr>
          <p:cNvPicPr>
            <a:picLocks noChangeAspect="1"/>
          </p:cNvPicPr>
          <p:nvPr/>
        </p:nvPicPr>
        <p:blipFill>
          <a:blip r:embed="rId5"/>
          <a:stretch>
            <a:fillRect/>
          </a:stretch>
        </p:blipFill>
        <p:spPr>
          <a:xfrm>
            <a:off x="4758538" y="4621378"/>
            <a:ext cx="358445" cy="358445"/>
          </a:xfrm>
          <a:prstGeom prst="rect">
            <a:avLst/>
          </a:prstGeom>
        </p:spPr>
      </p:pic>
      <p:sp>
        <p:nvSpPr>
          <p:cNvPr id="31" name="Nomor tujuan 5"/>
          <p:cNvSpPr txBox="1"/>
          <p:nvPr/>
        </p:nvSpPr>
        <p:spPr>
          <a:xfrm>
            <a:off x="6995160" y="448056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05</a:t>
            </a:r>
            <a:endParaRPr lang="en-US" sz="1600" dirty="0"/>
          </a:p>
        </p:txBody>
      </p:sp>
      <p:sp>
        <p:nvSpPr>
          <p:cNvPr id="32" name="Judul tujuan 5"/>
          <p:cNvSpPr txBox="1"/>
          <p:nvPr/>
        </p:nvSpPr>
        <p:spPr>
          <a:xfrm>
            <a:off x="4617720" y="518464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Catatan tetap rahasia</a:t>
            </a:r>
            <a:endParaRPr lang="en-US" sz="1700" dirty="0"/>
          </a:p>
        </p:txBody>
      </p:sp>
      <p:sp>
        <p:nvSpPr>
          <p:cNvPr id="33" name="Wujud tujuan 5"/>
          <p:cNvSpPr txBox="1"/>
          <p:nvPr/>
        </p:nvSpPr>
        <p:spPr>
          <a:xfrm>
            <a:off x="4617720" y="5532120"/>
            <a:ext cx="2926080" cy="457200"/>
          </a:xfrm>
          <a:prstGeom prst="rect">
            <a:avLst/>
          </a:prstGeom>
          <a:noFill/>
          <a:ln/>
        </p:spPr>
        <p:txBody>
          <a:bodyPr wrap="square" lIns="0" tIns="0" rIns="0" bIns="0" rtlCol="0" anchor="t"/>
          <a:lstStyle/>
          <a:p>
            <a:pPr indent="0" marL="0">
              <a:buNone/>
            </a:pPr>
            <a:r>
              <a:rPr lang="en-US" sz="1400" dirty="0">
                <a:solidFill>
                  <a:schemeClr val="tx1"/>
                </a:solidFill>
              </a:rPr>
              <a:t>Data disimpan di ponsel, dikunci PIN enam angka</a:t>
            </a:r>
            <a:endParaRPr lang="en-US" sz="1400" dirty="0"/>
          </a:p>
        </p:txBody>
      </p:sp>
      <p:sp>
        <p:nvSpPr>
          <p:cNvPr id="34" name="Tujuan 6"/>
          <p:cNvSpPr/>
          <p:nvPr/>
        </p:nvSpPr>
        <p:spPr>
          <a:xfrm>
            <a:off x="8046720" y="4251960"/>
            <a:ext cx="3474720" cy="1828800"/>
          </a:xfrm>
          <a:prstGeom prst="roundRect">
            <a:avLst>
              <a:gd name="adj" fmla="val 7500"/>
            </a:avLst>
          </a:prstGeom>
          <a:solidFill>
            <a:schemeClr val="bg1"/>
          </a:solidFill>
          <a:ln w="12700">
            <a:solidFill>
              <a:srgbClr val="D1FAE5"/>
            </a:solidFill>
            <a:prstDash val="solid"/>
          </a:ln>
          <a:effectLst>
            <a:outerShdw sx="100000" sy="100000" kx="0" ky="0" algn="bl" rotWithShape="0" blurRad="101600" dist="25400" dir="5400000">
              <a:srgbClr val="000000">
                <a:alpha val="15000"/>
              </a:srgbClr>
            </a:outerShdw>
          </a:effectLst>
        </p:spPr>
      </p:sp>
      <p:sp>
        <p:nvSpPr>
          <p:cNvPr id="35" name="Tetap jalan tanpa internet lingkaran"/>
          <p:cNvSpPr/>
          <p:nvPr/>
        </p:nvSpPr>
        <p:spPr>
          <a:xfrm>
            <a:off x="8321040" y="4480560"/>
            <a:ext cx="640080" cy="640080"/>
          </a:xfrm>
          <a:prstGeom prst="ellipse">
            <a:avLst/>
          </a:prstGeom>
          <a:solidFill>
            <a:schemeClr val="bg2"/>
          </a:solidFill>
          <a:ln w="12700">
            <a:solidFill>
              <a:schemeClr val="bg2"/>
            </a:solidFill>
            <a:prstDash val="solid"/>
          </a:ln>
        </p:spPr>
      </p:sp>
      <p:pic>
        <p:nvPicPr>
          <p:cNvPr id="36" name="Tetap jalan tanpa internet ikon" descr="preencoded.png">    </p:cNvPr>
          <p:cNvPicPr>
            <a:picLocks noChangeAspect="1"/>
          </p:cNvPicPr>
          <p:nvPr/>
        </p:nvPicPr>
        <p:blipFill>
          <a:blip r:embed="rId6"/>
          <a:stretch>
            <a:fillRect/>
          </a:stretch>
        </p:blipFill>
        <p:spPr>
          <a:xfrm>
            <a:off x="8461858" y="4621378"/>
            <a:ext cx="358445" cy="358445"/>
          </a:xfrm>
          <a:prstGeom prst="rect">
            <a:avLst/>
          </a:prstGeom>
        </p:spPr>
      </p:pic>
      <p:sp>
        <p:nvSpPr>
          <p:cNvPr id="37" name="Nomor tujuan 6"/>
          <p:cNvSpPr txBox="1"/>
          <p:nvPr/>
        </p:nvSpPr>
        <p:spPr>
          <a:xfrm>
            <a:off x="10698480" y="4480560"/>
            <a:ext cx="548640" cy="365760"/>
          </a:xfrm>
          <a:prstGeom prst="rect">
            <a:avLst/>
          </a:prstGeom>
          <a:noFill/>
          <a:ln/>
        </p:spPr>
        <p:txBody>
          <a:bodyPr wrap="square" lIns="0" tIns="0" rIns="0" bIns="0" rtlCol="0" anchor="ctr"/>
          <a:lstStyle/>
          <a:p>
            <a:pPr algn="r" indent="0" marL="0">
              <a:buNone/>
            </a:pPr>
            <a:r>
              <a:rPr lang="en-US" sz="1600" b="1" dirty="0">
                <a:solidFill>
                  <a:schemeClr val="accent1"/>
                </a:solidFill>
              </a:rPr>
              <a:t>06</a:t>
            </a:r>
            <a:endParaRPr lang="en-US" sz="1600" dirty="0"/>
          </a:p>
        </p:txBody>
      </p:sp>
      <p:sp>
        <p:nvSpPr>
          <p:cNvPr id="38" name="Judul tujuan 6"/>
          <p:cNvSpPr txBox="1"/>
          <p:nvPr/>
        </p:nvSpPr>
        <p:spPr>
          <a:xfrm>
            <a:off x="8321040" y="5184648"/>
            <a:ext cx="2926080" cy="320040"/>
          </a:xfrm>
          <a:prstGeom prst="rect">
            <a:avLst/>
          </a:prstGeom>
          <a:noFill/>
          <a:ln/>
        </p:spPr>
        <p:txBody>
          <a:bodyPr wrap="square" lIns="0" tIns="0" rIns="0" bIns="0" rtlCol="0" anchor="ctr"/>
          <a:lstStyle/>
          <a:p>
            <a:pPr indent="0" marL="0">
              <a:buNone/>
            </a:pPr>
            <a:r>
              <a:rPr lang="en-US" sz="1700" b="1" dirty="0">
                <a:solidFill>
                  <a:schemeClr val="tx2"/>
                </a:solidFill>
              </a:rPr>
              <a:t>Tetap jalan tanpa internet</a:t>
            </a:r>
            <a:endParaRPr lang="en-US" sz="1700" dirty="0"/>
          </a:p>
        </p:txBody>
      </p:sp>
      <p:sp>
        <p:nvSpPr>
          <p:cNvPr id="39" name="Wujud tujuan 6"/>
          <p:cNvSpPr txBox="1"/>
          <p:nvPr/>
        </p:nvSpPr>
        <p:spPr>
          <a:xfrm>
            <a:off x="8321040" y="5532120"/>
            <a:ext cx="2926080" cy="457200"/>
          </a:xfrm>
          <a:prstGeom prst="rect">
            <a:avLst/>
          </a:prstGeom>
          <a:noFill/>
          <a:ln/>
        </p:spPr>
        <p:txBody>
          <a:bodyPr wrap="square" lIns="0" tIns="0" rIns="0" bIns="0" rtlCol="0" anchor="t"/>
          <a:lstStyle/>
          <a:p>
            <a:pPr indent="0" marL="0">
              <a:buNone/>
            </a:pPr>
            <a:r>
              <a:rPr lang="en-US" sz="1400" dirty="0">
                <a:solidFill>
                  <a:schemeClr val="tx1"/>
                </a:solidFill>
              </a:rPr>
              <a:t>Catat manual, laporan, dan PIN bekerja offline</a:t>
            </a:r>
            <a:endParaRPr lang="en-US" sz="14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Untuk siapa MODIO dibuat?</a:t>
            </a:r>
            <a:endParaRPr lang="en-US" sz="3600" dirty="0"/>
          </a:p>
        </p:txBody>
      </p:sp>
      <p:sp>
        <p:nvSpPr>
          <p:cNvPr id="3" name="Pengguna 1"/>
          <p:cNvSpPr/>
          <p:nvPr/>
        </p:nvSpPr>
        <p:spPr>
          <a:xfrm>
            <a:off x="640080" y="1463040"/>
            <a:ext cx="6949440" cy="1325880"/>
          </a:xfrm>
          <a:prstGeom prst="roundRect">
            <a:avLst>
              <a:gd name="adj" fmla="val 10345"/>
            </a:avLst>
          </a:prstGeom>
          <a:solidFill>
            <a:schemeClr val="bg2"/>
          </a:solidFill>
          <a:ln w="12700">
            <a:solidFill>
              <a:schemeClr val="bg2"/>
            </a:solidFill>
            <a:prstDash val="solid"/>
          </a:ln>
        </p:spPr>
      </p:sp>
      <p:sp>
        <p:nvSpPr>
          <p:cNvPr id="4" name="Pemilik usaha mikro dan kecil lingkaran"/>
          <p:cNvSpPr/>
          <p:nvPr/>
        </p:nvSpPr>
        <p:spPr>
          <a:xfrm>
            <a:off x="914400" y="1755648"/>
            <a:ext cx="731520" cy="731520"/>
          </a:xfrm>
          <a:prstGeom prst="ellipse">
            <a:avLst/>
          </a:prstGeom>
          <a:solidFill>
            <a:schemeClr val="bg1"/>
          </a:solidFill>
          <a:ln w="12700">
            <a:solidFill>
              <a:schemeClr val="bg1"/>
            </a:solidFill>
            <a:prstDash val="solid"/>
          </a:ln>
        </p:spPr>
      </p:sp>
      <p:pic>
        <p:nvPicPr>
          <p:cNvPr id="5" name="Pemilik usaha mikro dan kecil ikon" descr="preencoded.png">    </p:cNvPr>
          <p:cNvPicPr>
            <a:picLocks noChangeAspect="1"/>
          </p:cNvPicPr>
          <p:nvPr/>
        </p:nvPicPr>
        <p:blipFill>
          <a:blip r:embed="rId1"/>
          <a:stretch>
            <a:fillRect/>
          </a:stretch>
        </p:blipFill>
        <p:spPr>
          <a:xfrm>
            <a:off x="1075334" y="1916582"/>
            <a:ext cx="409651" cy="409651"/>
          </a:xfrm>
          <a:prstGeom prst="rect">
            <a:avLst/>
          </a:prstGeom>
        </p:spPr>
      </p:pic>
      <p:sp>
        <p:nvSpPr>
          <p:cNvPr id="6" name="Judul pengguna 1"/>
          <p:cNvSpPr txBox="1"/>
          <p:nvPr/>
        </p:nvSpPr>
        <p:spPr>
          <a:xfrm>
            <a:off x="1874520" y="1645920"/>
            <a:ext cx="5486400" cy="365760"/>
          </a:xfrm>
          <a:prstGeom prst="rect">
            <a:avLst/>
          </a:prstGeom>
          <a:noFill/>
          <a:ln/>
        </p:spPr>
        <p:txBody>
          <a:bodyPr wrap="square" lIns="0" tIns="0" rIns="0" bIns="0" rtlCol="0" anchor="ctr"/>
          <a:lstStyle/>
          <a:p>
            <a:pPr indent="0" marL="0">
              <a:buNone/>
            </a:pPr>
            <a:r>
              <a:rPr lang="en-US" sz="1900" b="1" dirty="0">
                <a:solidFill>
                  <a:schemeClr val="tx2"/>
                </a:solidFill>
              </a:rPr>
              <a:t>Pemilik usaha mikro dan kecil</a:t>
            </a:r>
            <a:endParaRPr lang="en-US" sz="1900" dirty="0"/>
          </a:p>
        </p:txBody>
      </p:sp>
      <p:sp>
        <p:nvSpPr>
          <p:cNvPr id="7" name="Isi pengguna 1"/>
          <p:cNvSpPr txBox="1"/>
          <p:nvPr/>
        </p:nvSpPr>
        <p:spPr>
          <a:xfrm>
            <a:off x="1874520" y="2029968"/>
            <a:ext cx="5486400" cy="640080"/>
          </a:xfrm>
          <a:prstGeom prst="rect">
            <a:avLst/>
          </a:prstGeom>
          <a:noFill/>
          <a:ln/>
        </p:spPr>
        <p:txBody>
          <a:bodyPr wrap="square" lIns="0" tIns="0" rIns="0" bIns="0" rtlCol="0" anchor="t"/>
          <a:lstStyle/>
          <a:p>
            <a:pPr indent="0" marL="0">
              <a:buNone/>
            </a:pPr>
            <a:r>
              <a:rPr lang="en-US" sz="1500" dirty="0">
                <a:solidFill>
                  <a:schemeClr val="tx1"/>
                </a:solidFill>
              </a:rPr>
              <a:t>Warung, usaha jasa, kerajinan, hingga komunitas yang ingin tahu kondisi keuangannya setiap hari.</a:t>
            </a:r>
            <a:endParaRPr lang="en-US" sz="1500" dirty="0"/>
          </a:p>
        </p:txBody>
      </p:sp>
      <p:sp>
        <p:nvSpPr>
          <p:cNvPr id="8" name="Pengguna 2"/>
          <p:cNvSpPr/>
          <p:nvPr/>
        </p:nvSpPr>
        <p:spPr>
          <a:xfrm>
            <a:off x="640080" y="3017520"/>
            <a:ext cx="6949440" cy="1325880"/>
          </a:xfrm>
          <a:prstGeom prst="roundRect">
            <a:avLst>
              <a:gd name="adj" fmla="val 10345"/>
            </a:avLst>
          </a:prstGeom>
          <a:solidFill>
            <a:schemeClr val="bg2"/>
          </a:solidFill>
          <a:ln w="12700">
            <a:solidFill>
              <a:schemeClr val="bg2"/>
            </a:solidFill>
            <a:prstDash val="solid"/>
          </a:ln>
        </p:spPr>
      </p:sp>
      <p:sp>
        <p:nvSpPr>
          <p:cNvPr id="9" name="Pengguna tunanetra lingkaran"/>
          <p:cNvSpPr/>
          <p:nvPr/>
        </p:nvSpPr>
        <p:spPr>
          <a:xfrm>
            <a:off x="914400" y="3310128"/>
            <a:ext cx="731520" cy="731520"/>
          </a:xfrm>
          <a:prstGeom prst="ellipse">
            <a:avLst/>
          </a:prstGeom>
          <a:solidFill>
            <a:schemeClr val="bg1"/>
          </a:solidFill>
          <a:ln w="12700">
            <a:solidFill>
              <a:schemeClr val="bg1"/>
            </a:solidFill>
            <a:prstDash val="solid"/>
          </a:ln>
        </p:spPr>
      </p:sp>
      <p:pic>
        <p:nvPicPr>
          <p:cNvPr id="10" name="Pengguna tunanetra ikon" descr="preencoded.png">    </p:cNvPr>
          <p:cNvPicPr>
            <a:picLocks noChangeAspect="1"/>
          </p:cNvPicPr>
          <p:nvPr/>
        </p:nvPicPr>
        <p:blipFill>
          <a:blip r:embed="rId2"/>
          <a:stretch>
            <a:fillRect/>
          </a:stretch>
        </p:blipFill>
        <p:spPr>
          <a:xfrm>
            <a:off x="1075334" y="3471062"/>
            <a:ext cx="409651" cy="409651"/>
          </a:xfrm>
          <a:prstGeom prst="rect">
            <a:avLst/>
          </a:prstGeom>
        </p:spPr>
      </p:pic>
      <p:sp>
        <p:nvSpPr>
          <p:cNvPr id="11" name="Judul pengguna 2"/>
          <p:cNvSpPr txBox="1"/>
          <p:nvPr/>
        </p:nvSpPr>
        <p:spPr>
          <a:xfrm>
            <a:off x="1874520" y="3200400"/>
            <a:ext cx="5486400" cy="365760"/>
          </a:xfrm>
          <a:prstGeom prst="rect">
            <a:avLst/>
          </a:prstGeom>
          <a:noFill/>
          <a:ln/>
        </p:spPr>
        <p:txBody>
          <a:bodyPr wrap="square" lIns="0" tIns="0" rIns="0" bIns="0" rtlCol="0" anchor="ctr"/>
          <a:lstStyle/>
          <a:p>
            <a:pPr indent="0" marL="0">
              <a:buNone/>
            </a:pPr>
            <a:r>
              <a:rPr lang="en-US" sz="1900" b="1" dirty="0">
                <a:solidFill>
                  <a:schemeClr val="tx2"/>
                </a:solidFill>
              </a:rPr>
              <a:t>Pengguna tunanetra</a:t>
            </a:r>
            <a:endParaRPr lang="en-US" sz="1900" dirty="0"/>
          </a:p>
        </p:txBody>
      </p:sp>
      <p:sp>
        <p:nvSpPr>
          <p:cNvPr id="12" name="Isi pengguna 2"/>
          <p:cNvSpPr txBox="1"/>
          <p:nvPr/>
        </p:nvSpPr>
        <p:spPr>
          <a:xfrm>
            <a:off x="1874520" y="3584448"/>
            <a:ext cx="5486400" cy="640080"/>
          </a:xfrm>
          <a:prstGeom prst="rect">
            <a:avLst/>
          </a:prstGeom>
          <a:noFill/>
          <a:ln/>
        </p:spPr>
        <p:txBody>
          <a:bodyPr wrap="square" lIns="0" tIns="0" rIns="0" bIns="0" rtlCol="0" anchor="t"/>
          <a:lstStyle/>
          <a:p>
            <a:pPr indent="0" marL="0">
              <a:buNone/>
            </a:pPr>
            <a:r>
              <a:rPr lang="en-US" sz="1500" dirty="0">
                <a:solidFill>
                  <a:schemeClr val="tx1"/>
                </a:solidFill>
              </a:rPr>
              <a:t>Memakai pembaca layar TalkBack. Semua elemen berlabel, nominal dibacakan utuh, status diumumkan.</a:t>
            </a:r>
            <a:endParaRPr lang="en-US" sz="1500" dirty="0"/>
          </a:p>
        </p:txBody>
      </p:sp>
      <p:sp>
        <p:nvSpPr>
          <p:cNvPr id="13" name="Pengguna 3"/>
          <p:cNvSpPr/>
          <p:nvPr/>
        </p:nvSpPr>
        <p:spPr>
          <a:xfrm>
            <a:off x="640080" y="4572000"/>
            <a:ext cx="6949440" cy="1325880"/>
          </a:xfrm>
          <a:prstGeom prst="roundRect">
            <a:avLst>
              <a:gd name="adj" fmla="val 10345"/>
            </a:avLst>
          </a:prstGeom>
          <a:solidFill>
            <a:schemeClr val="bg2"/>
          </a:solidFill>
          <a:ln w="12700">
            <a:solidFill>
              <a:schemeClr val="bg2"/>
            </a:solidFill>
            <a:prstDash val="solid"/>
          </a:ln>
        </p:spPr>
      </p:sp>
      <p:sp>
        <p:nvSpPr>
          <p:cNvPr id="14" name="Pengguna low vision lingkaran"/>
          <p:cNvSpPr/>
          <p:nvPr/>
        </p:nvSpPr>
        <p:spPr>
          <a:xfrm>
            <a:off x="914400" y="4864608"/>
            <a:ext cx="731520" cy="731520"/>
          </a:xfrm>
          <a:prstGeom prst="ellipse">
            <a:avLst/>
          </a:prstGeom>
          <a:solidFill>
            <a:schemeClr val="bg1"/>
          </a:solidFill>
          <a:ln w="12700">
            <a:solidFill>
              <a:schemeClr val="bg1"/>
            </a:solidFill>
            <a:prstDash val="solid"/>
          </a:ln>
        </p:spPr>
      </p:sp>
      <p:pic>
        <p:nvPicPr>
          <p:cNvPr id="15" name="Pengguna low vision ikon" descr="preencoded.png">    </p:cNvPr>
          <p:cNvPicPr>
            <a:picLocks noChangeAspect="1"/>
          </p:cNvPicPr>
          <p:nvPr/>
        </p:nvPicPr>
        <p:blipFill>
          <a:blip r:embed="rId3"/>
          <a:stretch>
            <a:fillRect/>
          </a:stretch>
        </p:blipFill>
        <p:spPr>
          <a:xfrm>
            <a:off x="1075334" y="5025542"/>
            <a:ext cx="409651" cy="409651"/>
          </a:xfrm>
          <a:prstGeom prst="rect">
            <a:avLst/>
          </a:prstGeom>
        </p:spPr>
      </p:pic>
      <p:sp>
        <p:nvSpPr>
          <p:cNvPr id="16" name="Judul pengguna 3"/>
          <p:cNvSpPr txBox="1"/>
          <p:nvPr/>
        </p:nvSpPr>
        <p:spPr>
          <a:xfrm>
            <a:off x="1874520" y="4754880"/>
            <a:ext cx="5486400" cy="365760"/>
          </a:xfrm>
          <a:prstGeom prst="rect">
            <a:avLst/>
          </a:prstGeom>
          <a:noFill/>
          <a:ln/>
        </p:spPr>
        <p:txBody>
          <a:bodyPr wrap="square" lIns="0" tIns="0" rIns="0" bIns="0" rtlCol="0" anchor="ctr"/>
          <a:lstStyle/>
          <a:p>
            <a:pPr indent="0" marL="0">
              <a:buNone/>
            </a:pPr>
            <a:r>
              <a:rPr lang="en-US" sz="1900" b="1" dirty="0">
                <a:solidFill>
                  <a:schemeClr val="tx2"/>
                </a:solidFill>
              </a:rPr>
              <a:t>Pengguna low vision</a:t>
            </a:r>
            <a:endParaRPr lang="en-US" sz="1900" dirty="0"/>
          </a:p>
        </p:txBody>
      </p:sp>
      <p:sp>
        <p:nvSpPr>
          <p:cNvPr id="17" name="Isi pengguna 3"/>
          <p:cNvSpPr txBox="1"/>
          <p:nvPr/>
        </p:nvSpPr>
        <p:spPr>
          <a:xfrm>
            <a:off x="1874520" y="5138928"/>
            <a:ext cx="5486400" cy="640080"/>
          </a:xfrm>
          <a:prstGeom prst="rect">
            <a:avLst/>
          </a:prstGeom>
          <a:noFill/>
          <a:ln/>
        </p:spPr>
        <p:txBody>
          <a:bodyPr wrap="square" lIns="0" tIns="0" rIns="0" bIns="0" rtlCol="0" anchor="t"/>
          <a:lstStyle/>
          <a:p>
            <a:pPr indent="0" marL="0">
              <a:buNone/>
            </a:pPr>
            <a:r>
              <a:rPr lang="en-US" sz="1500" dirty="0">
                <a:solidFill>
                  <a:schemeClr val="tx1"/>
                </a:solidFill>
              </a:rPr>
              <a:t>Pilihan Kontras Tinggi, Teks Tebal, mode gelap, dan ukuran teks besar mengikuti pengaturan ponsel.</a:t>
            </a:r>
            <a:endParaRPr lang="en-US" sz="1500" dirty="0"/>
          </a:p>
        </p:txBody>
      </p:sp>
      <p:sp>
        <p:nvSpPr>
          <p:cNvPr id="18" name="Screenshot Pengaturan Aksesibilitas bingkai"/>
          <p:cNvSpPr/>
          <p:nvPr/>
        </p:nvSpPr>
        <p:spPr>
          <a:xfrm>
            <a:off x="8778240" y="1325880"/>
            <a:ext cx="2377440" cy="4675463"/>
          </a:xfrm>
          <a:prstGeom prst="roundRect">
            <a:avLst>
              <a:gd name="adj" fmla="val 10769"/>
            </a:avLst>
          </a:prstGeom>
          <a:solidFill>
            <a:schemeClr val="tx1"/>
          </a:solidFill>
          <a:ln w="12700">
            <a:solidFill>
              <a:schemeClr val="tx1"/>
            </a:solidFill>
            <a:prstDash val="solid"/>
          </a:ln>
          <a:effectLst>
            <a:outerShdw sx="100000" sy="100000" kx="0" ky="0" algn="bl" rotWithShape="0" blurRad="177800" dist="50800" dir="5400000">
              <a:srgbClr val="000000">
                <a:alpha val="30000"/>
              </a:srgbClr>
            </a:outerShdw>
          </a:effectLst>
        </p:spPr>
      </p:sp>
      <p:pic>
        <p:nvPicPr>
          <p:cNvPr id="19" name="Screenshot Pengaturan Aksesibilitas" descr="Screenshot Pengaturan Aksesibilitas">    </p:cNvPr>
          <p:cNvPicPr>
            <a:picLocks noChangeAspect="1"/>
          </p:cNvPicPr>
          <p:nvPr/>
        </p:nvPicPr>
        <p:blipFill>
          <a:blip r:embed="rId4"/>
          <a:stretch>
            <a:fillRect/>
          </a:stretch>
        </p:blipFill>
        <p:spPr>
          <a:xfrm>
            <a:off x="8860536" y="1508760"/>
            <a:ext cx="2212848" cy="4282271"/>
          </a:xfrm>
          <a:prstGeom prst="rect">
            <a:avLst/>
          </a:prstGeom>
        </p:spPr>
      </p:pic>
      <p:sp>
        <p:nvSpPr>
          <p:cNvPr id="20" name="Keterangan screenshot"/>
          <p:cNvSpPr txBox="1"/>
          <p:nvPr/>
        </p:nvSpPr>
        <p:spPr>
          <a:xfrm>
            <a:off x="8321040" y="6092783"/>
            <a:ext cx="3291840" cy="274320"/>
          </a:xfrm>
          <a:prstGeom prst="rect">
            <a:avLst/>
          </a:prstGeom>
          <a:noFill/>
          <a:ln/>
        </p:spPr>
        <p:txBody>
          <a:bodyPr wrap="square" lIns="0" tIns="0" rIns="0" bIns="0" rtlCol="0" anchor="ctr"/>
          <a:lstStyle/>
          <a:p>
            <a:pPr algn="ctr" indent="0" marL="0">
              <a:buNone/>
            </a:pPr>
            <a:r>
              <a:rPr lang="en-US" sz="1200" dirty="0">
                <a:solidFill>
                  <a:schemeClr val="accent5"/>
                </a:solidFill>
              </a:rPr>
              <a:t>Pengaturan Aksesibilitas</a:t>
            </a:r>
            <a:endParaRPr lang="en-US" sz="12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Mencatat tanpa mengetik</a:t>
            </a:r>
            <a:endParaRPr lang="en-US" sz="3600" dirty="0"/>
          </a:p>
        </p:txBody>
      </p:sp>
      <p:sp>
        <p:nvSpPr>
          <p:cNvPr id="3" name="Ucapkan lingkaran"/>
          <p:cNvSpPr/>
          <p:nvPr/>
        </p:nvSpPr>
        <p:spPr>
          <a:xfrm>
            <a:off x="1325880" y="1463040"/>
            <a:ext cx="1005840" cy="1005840"/>
          </a:xfrm>
          <a:prstGeom prst="ellipse">
            <a:avLst/>
          </a:prstGeom>
          <a:solidFill>
            <a:schemeClr val="bg2"/>
          </a:solidFill>
          <a:ln w="12700">
            <a:solidFill>
              <a:schemeClr val="bg2"/>
            </a:solidFill>
            <a:prstDash val="solid"/>
          </a:ln>
        </p:spPr>
      </p:sp>
      <p:pic>
        <p:nvPicPr>
          <p:cNvPr id="4" name="Ucapkan ikon" descr="preencoded.png">    </p:cNvPr>
          <p:cNvPicPr>
            <a:picLocks noChangeAspect="1"/>
          </p:cNvPicPr>
          <p:nvPr/>
        </p:nvPicPr>
        <p:blipFill>
          <a:blip r:embed="rId1"/>
          <a:stretch>
            <a:fillRect/>
          </a:stretch>
        </p:blipFill>
        <p:spPr>
          <a:xfrm>
            <a:off x="1547165" y="1684325"/>
            <a:ext cx="563270" cy="563270"/>
          </a:xfrm>
          <a:prstGeom prst="rect">
            <a:avLst/>
          </a:prstGeom>
        </p:spPr>
      </p:pic>
      <p:sp>
        <p:nvSpPr>
          <p:cNvPr id="5" name="Langkah 1"/>
          <p:cNvSpPr txBox="1"/>
          <p:nvPr/>
        </p:nvSpPr>
        <p:spPr>
          <a:xfrm>
            <a:off x="640080" y="2651760"/>
            <a:ext cx="2377440" cy="411480"/>
          </a:xfrm>
          <a:prstGeom prst="rect">
            <a:avLst/>
          </a:prstGeom>
          <a:noFill/>
          <a:ln/>
        </p:spPr>
        <p:txBody>
          <a:bodyPr wrap="square" lIns="0" tIns="0" rIns="0" bIns="0" rtlCol="0" anchor="ctr"/>
          <a:lstStyle/>
          <a:p>
            <a:pPr algn="ctr" indent="0" marL="0">
              <a:buNone/>
            </a:pPr>
            <a:r>
              <a:rPr lang="en-US" sz="2000" b="1" dirty="0">
                <a:solidFill>
                  <a:schemeClr val="tx2"/>
                </a:solidFill>
              </a:rPr>
              <a:t>Ucapkan</a:t>
            </a:r>
            <a:endParaRPr lang="en-US" sz="2000" dirty="0"/>
          </a:p>
        </p:txBody>
      </p:sp>
      <p:sp>
        <p:nvSpPr>
          <p:cNvPr id="6" name="Isi langkah 1"/>
          <p:cNvSpPr txBox="1"/>
          <p:nvPr/>
        </p:nvSpPr>
        <p:spPr>
          <a:xfrm>
            <a:off x="640080" y="3090672"/>
            <a:ext cx="2377440" cy="822960"/>
          </a:xfrm>
          <a:prstGeom prst="rect">
            <a:avLst/>
          </a:prstGeom>
          <a:noFill/>
          <a:ln/>
        </p:spPr>
        <p:txBody>
          <a:bodyPr wrap="square" lIns="0" tIns="0" rIns="0" bIns="0" rtlCol="0" anchor="t"/>
          <a:lstStyle/>
          <a:p>
            <a:pPr algn="ctr" indent="0" marL="0">
              <a:buNone/>
            </a:pPr>
            <a:r>
              <a:rPr lang="en-US" sz="1500" dirty="0">
                <a:solidFill>
                  <a:schemeClr val="tx1"/>
                </a:solidFill>
              </a:rPr>
              <a:t>Ketuk tombol mikrofon, lalu sebutkan transaksinya</a:t>
            </a:r>
            <a:endParaRPr lang="en-US" sz="1500" dirty="0"/>
          </a:p>
        </p:txBody>
      </p:sp>
      <p:pic>
        <p:nvPicPr>
          <p:cNvPr id="7" name="Panah 1" descr="preencoded.png">    </p:cNvPr>
          <p:cNvPicPr>
            <a:picLocks noChangeAspect="1"/>
          </p:cNvPicPr>
          <p:nvPr/>
        </p:nvPicPr>
        <p:blipFill>
          <a:blip r:embed="rId2"/>
          <a:stretch>
            <a:fillRect/>
          </a:stretch>
        </p:blipFill>
        <p:spPr>
          <a:xfrm>
            <a:off x="3108960" y="1737360"/>
            <a:ext cx="457200" cy="457200"/>
          </a:xfrm>
          <a:prstGeom prst="rect">
            <a:avLst/>
          </a:prstGeom>
        </p:spPr>
      </p:pic>
      <p:sp>
        <p:nvSpPr>
          <p:cNvPr id="8" name="AI mengisi lingkaran"/>
          <p:cNvSpPr/>
          <p:nvPr/>
        </p:nvSpPr>
        <p:spPr>
          <a:xfrm>
            <a:off x="4160520" y="1463040"/>
            <a:ext cx="1005840" cy="1005840"/>
          </a:xfrm>
          <a:prstGeom prst="ellipse">
            <a:avLst/>
          </a:prstGeom>
          <a:solidFill>
            <a:schemeClr val="bg2"/>
          </a:solidFill>
          <a:ln w="12700">
            <a:solidFill>
              <a:schemeClr val="bg2"/>
            </a:solidFill>
            <a:prstDash val="solid"/>
          </a:ln>
        </p:spPr>
      </p:sp>
      <p:pic>
        <p:nvPicPr>
          <p:cNvPr id="9" name="AI mengisi ikon" descr="preencoded.png">    </p:cNvPr>
          <p:cNvPicPr>
            <a:picLocks noChangeAspect="1"/>
          </p:cNvPicPr>
          <p:nvPr/>
        </p:nvPicPr>
        <p:blipFill>
          <a:blip r:embed="rId3"/>
          <a:stretch>
            <a:fillRect/>
          </a:stretch>
        </p:blipFill>
        <p:spPr>
          <a:xfrm>
            <a:off x="4381805" y="1684325"/>
            <a:ext cx="563270" cy="563270"/>
          </a:xfrm>
          <a:prstGeom prst="rect">
            <a:avLst/>
          </a:prstGeom>
        </p:spPr>
      </p:pic>
      <p:sp>
        <p:nvSpPr>
          <p:cNvPr id="10" name="Langkah 2"/>
          <p:cNvSpPr txBox="1"/>
          <p:nvPr/>
        </p:nvSpPr>
        <p:spPr>
          <a:xfrm>
            <a:off x="3474720" y="2651760"/>
            <a:ext cx="2377440" cy="411480"/>
          </a:xfrm>
          <a:prstGeom prst="rect">
            <a:avLst/>
          </a:prstGeom>
          <a:noFill/>
          <a:ln/>
        </p:spPr>
        <p:txBody>
          <a:bodyPr wrap="square" lIns="0" tIns="0" rIns="0" bIns="0" rtlCol="0" anchor="ctr"/>
          <a:lstStyle/>
          <a:p>
            <a:pPr algn="ctr" indent="0" marL="0">
              <a:buNone/>
            </a:pPr>
            <a:r>
              <a:rPr lang="en-US" sz="2000" b="1" dirty="0">
                <a:solidFill>
                  <a:schemeClr val="tx2"/>
                </a:solidFill>
              </a:rPr>
              <a:t>AI mengisi</a:t>
            </a:r>
            <a:endParaRPr lang="en-US" sz="2000" dirty="0"/>
          </a:p>
        </p:txBody>
      </p:sp>
      <p:sp>
        <p:nvSpPr>
          <p:cNvPr id="11" name="Isi langkah 2"/>
          <p:cNvSpPr txBox="1"/>
          <p:nvPr/>
        </p:nvSpPr>
        <p:spPr>
          <a:xfrm>
            <a:off x="3474720" y="3090672"/>
            <a:ext cx="2377440" cy="822960"/>
          </a:xfrm>
          <a:prstGeom prst="rect">
            <a:avLst/>
          </a:prstGeom>
          <a:noFill/>
          <a:ln/>
        </p:spPr>
        <p:txBody>
          <a:bodyPr wrap="square" lIns="0" tIns="0" rIns="0" bIns="0" rtlCol="0" anchor="t"/>
          <a:lstStyle/>
          <a:p>
            <a:pPr algn="ctr" indent="0" marL="0">
              <a:buNone/>
            </a:pPr>
            <a:r>
              <a:rPr lang="en-US" sz="1500" dirty="0">
                <a:solidFill>
                  <a:schemeClr val="tx1"/>
                </a:solidFill>
              </a:rPr>
              <a:t>Jenis, jumlah, kategori, dan metode bayar terisi otomatis</a:t>
            </a:r>
            <a:endParaRPr lang="en-US" sz="1500" dirty="0"/>
          </a:p>
        </p:txBody>
      </p:sp>
      <p:pic>
        <p:nvPicPr>
          <p:cNvPr id="12" name="Panah 2" descr="preencoded.png">    </p:cNvPr>
          <p:cNvPicPr>
            <a:picLocks noChangeAspect="1"/>
          </p:cNvPicPr>
          <p:nvPr/>
        </p:nvPicPr>
        <p:blipFill>
          <a:blip r:embed="rId4"/>
          <a:stretch>
            <a:fillRect/>
          </a:stretch>
        </p:blipFill>
        <p:spPr>
          <a:xfrm>
            <a:off x="5943600" y="1737360"/>
            <a:ext cx="457200" cy="457200"/>
          </a:xfrm>
          <a:prstGeom prst="rect">
            <a:avLst/>
          </a:prstGeom>
        </p:spPr>
      </p:pic>
      <p:sp>
        <p:nvSpPr>
          <p:cNvPr id="13" name="Periksa lingkaran"/>
          <p:cNvSpPr/>
          <p:nvPr/>
        </p:nvSpPr>
        <p:spPr>
          <a:xfrm>
            <a:off x="6995160" y="1463040"/>
            <a:ext cx="1005840" cy="1005840"/>
          </a:xfrm>
          <a:prstGeom prst="ellipse">
            <a:avLst/>
          </a:prstGeom>
          <a:solidFill>
            <a:schemeClr val="bg2"/>
          </a:solidFill>
          <a:ln w="12700">
            <a:solidFill>
              <a:schemeClr val="bg2"/>
            </a:solidFill>
            <a:prstDash val="solid"/>
          </a:ln>
        </p:spPr>
      </p:sp>
      <p:pic>
        <p:nvPicPr>
          <p:cNvPr id="14" name="Periksa ikon" descr="preencoded.png">    </p:cNvPr>
          <p:cNvPicPr>
            <a:picLocks noChangeAspect="1"/>
          </p:cNvPicPr>
          <p:nvPr/>
        </p:nvPicPr>
        <p:blipFill>
          <a:blip r:embed="rId5"/>
          <a:stretch>
            <a:fillRect/>
          </a:stretch>
        </p:blipFill>
        <p:spPr>
          <a:xfrm>
            <a:off x="7216445" y="1684325"/>
            <a:ext cx="563270" cy="563270"/>
          </a:xfrm>
          <a:prstGeom prst="rect">
            <a:avLst/>
          </a:prstGeom>
        </p:spPr>
      </p:pic>
      <p:sp>
        <p:nvSpPr>
          <p:cNvPr id="15" name="Langkah 3"/>
          <p:cNvSpPr txBox="1"/>
          <p:nvPr/>
        </p:nvSpPr>
        <p:spPr>
          <a:xfrm>
            <a:off x="6309360" y="2651760"/>
            <a:ext cx="2377440" cy="411480"/>
          </a:xfrm>
          <a:prstGeom prst="rect">
            <a:avLst/>
          </a:prstGeom>
          <a:noFill/>
          <a:ln/>
        </p:spPr>
        <p:txBody>
          <a:bodyPr wrap="square" lIns="0" tIns="0" rIns="0" bIns="0" rtlCol="0" anchor="ctr"/>
          <a:lstStyle/>
          <a:p>
            <a:pPr algn="ctr" indent="0" marL="0">
              <a:buNone/>
            </a:pPr>
            <a:r>
              <a:rPr lang="en-US" sz="2000" b="1" dirty="0">
                <a:solidFill>
                  <a:schemeClr val="tx2"/>
                </a:solidFill>
              </a:rPr>
              <a:t>Periksa</a:t>
            </a:r>
            <a:endParaRPr lang="en-US" sz="2000" dirty="0"/>
          </a:p>
        </p:txBody>
      </p:sp>
      <p:sp>
        <p:nvSpPr>
          <p:cNvPr id="16" name="Isi langkah 3"/>
          <p:cNvSpPr txBox="1"/>
          <p:nvPr/>
        </p:nvSpPr>
        <p:spPr>
          <a:xfrm>
            <a:off x="6309360" y="3090672"/>
            <a:ext cx="2377440" cy="822960"/>
          </a:xfrm>
          <a:prstGeom prst="rect">
            <a:avLst/>
          </a:prstGeom>
          <a:noFill/>
          <a:ln/>
        </p:spPr>
        <p:txBody>
          <a:bodyPr wrap="square" lIns="0" tIns="0" rIns="0" bIns="0" rtlCol="0" anchor="t"/>
          <a:lstStyle/>
          <a:p>
            <a:pPr algn="ctr" indent="0" marL="0">
              <a:buNone/>
            </a:pPr>
            <a:r>
              <a:rPr lang="en-US" sz="1500" dirty="0">
                <a:solidFill>
                  <a:schemeClr val="tx1"/>
                </a:solidFill>
              </a:rPr>
              <a:t>Lengkapi isian yang belum jelas di formulir</a:t>
            </a:r>
            <a:endParaRPr lang="en-US" sz="1500" dirty="0"/>
          </a:p>
        </p:txBody>
      </p:sp>
      <p:pic>
        <p:nvPicPr>
          <p:cNvPr id="17" name="Panah 3" descr="preencoded.png">    </p:cNvPr>
          <p:cNvPicPr>
            <a:picLocks noChangeAspect="1"/>
          </p:cNvPicPr>
          <p:nvPr/>
        </p:nvPicPr>
        <p:blipFill>
          <a:blip r:embed="rId6"/>
          <a:stretch>
            <a:fillRect/>
          </a:stretch>
        </p:blipFill>
        <p:spPr>
          <a:xfrm>
            <a:off x="8778240" y="1737360"/>
            <a:ext cx="457200" cy="457200"/>
          </a:xfrm>
          <a:prstGeom prst="rect">
            <a:avLst/>
          </a:prstGeom>
        </p:spPr>
      </p:pic>
      <p:sp>
        <p:nvSpPr>
          <p:cNvPr id="18" name="Simpan lingkaran"/>
          <p:cNvSpPr/>
          <p:nvPr/>
        </p:nvSpPr>
        <p:spPr>
          <a:xfrm>
            <a:off x="9829800" y="1463040"/>
            <a:ext cx="1005840" cy="1005840"/>
          </a:xfrm>
          <a:prstGeom prst="ellipse">
            <a:avLst/>
          </a:prstGeom>
          <a:solidFill>
            <a:schemeClr val="bg2"/>
          </a:solidFill>
          <a:ln w="12700">
            <a:solidFill>
              <a:schemeClr val="bg2"/>
            </a:solidFill>
            <a:prstDash val="solid"/>
          </a:ln>
        </p:spPr>
      </p:sp>
      <p:pic>
        <p:nvPicPr>
          <p:cNvPr id="19" name="Simpan ikon" descr="preencoded.png">    </p:cNvPr>
          <p:cNvPicPr>
            <a:picLocks noChangeAspect="1"/>
          </p:cNvPicPr>
          <p:nvPr/>
        </p:nvPicPr>
        <p:blipFill>
          <a:blip r:embed="rId7"/>
          <a:stretch>
            <a:fillRect/>
          </a:stretch>
        </p:blipFill>
        <p:spPr>
          <a:xfrm>
            <a:off x="10051085" y="1684325"/>
            <a:ext cx="563270" cy="563270"/>
          </a:xfrm>
          <a:prstGeom prst="rect">
            <a:avLst/>
          </a:prstGeom>
        </p:spPr>
      </p:pic>
      <p:sp>
        <p:nvSpPr>
          <p:cNvPr id="20" name="Langkah 4"/>
          <p:cNvSpPr txBox="1"/>
          <p:nvPr/>
        </p:nvSpPr>
        <p:spPr>
          <a:xfrm>
            <a:off x="9144000" y="2651760"/>
            <a:ext cx="2377440" cy="411480"/>
          </a:xfrm>
          <a:prstGeom prst="rect">
            <a:avLst/>
          </a:prstGeom>
          <a:noFill/>
          <a:ln/>
        </p:spPr>
        <p:txBody>
          <a:bodyPr wrap="square" lIns="0" tIns="0" rIns="0" bIns="0" rtlCol="0" anchor="ctr"/>
          <a:lstStyle/>
          <a:p>
            <a:pPr algn="ctr" indent="0" marL="0">
              <a:buNone/>
            </a:pPr>
            <a:r>
              <a:rPr lang="en-US" sz="2000" b="1" dirty="0">
                <a:solidFill>
                  <a:schemeClr val="tx2"/>
                </a:solidFill>
              </a:rPr>
              <a:t>Simpan</a:t>
            </a:r>
            <a:endParaRPr lang="en-US" sz="2000" dirty="0"/>
          </a:p>
        </p:txBody>
      </p:sp>
      <p:sp>
        <p:nvSpPr>
          <p:cNvPr id="21" name="Isi langkah 4"/>
          <p:cNvSpPr txBox="1"/>
          <p:nvPr/>
        </p:nvSpPr>
        <p:spPr>
          <a:xfrm>
            <a:off x="9144000" y="3090672"/>
            <a:ext cx="2377440" cy="822960"/>
          </a:xfrm>
          <a:prstGeom prst="rect">
            <a:avLst/>
          </a:prstGeom>
          <a:noFill/>
          <a:ln/>
        </p:spPr>
        <p:txBody>
          <a:bodyPr wrap="square" lIns="0" tIns="0" rIns="0" bIns="0" rtlCol="0" anchor="t"/>
          <a:lstStyle/>
          <a:p>
            <a:pPr algn="ctr" indent="0" marL="0">
              <a:buNone/>
            </a:pPr>
            <a:r>
              <a:rPr lang="en-US" sz="1500" dirty="0">
                <a:solidFill>
                  <a:schemeClr val="tx1"/>
                </a:solidFill>
              </a:rPr>
              <a:t>Konfirmasi "Sudah benar?", lalu tersimpan dan dibacakan</a:t>
            </a:r>
            <a:endParaRPr lang="en-US" sz="1500" dirty="0"/>
          </a:p>
        </p:txBody>
      </p:sp>
      <p:sp>
        <p:nvSpPr>
          <p:cNvPr id="22" name="Contoh ucapan"/>
          <p:cNvSpPr/>
          <p:nvPr/>
        </p:nvSpPr>
        <p:spPr>
          <a:xfrm>
            <a:off x="640080" y="4251960"/>
            <a:ext cx="10881360" cy="1691640"/>
          </a:xfrm>
          <a:prstGeom prst="roundRect">
            <a:avLst>
              <a:gd name="adj" fmla="val 9730"/>
            </a:avLst>
          </a:prstGeom>
          <a:solidFill>
            <a:schemeClr val="tx2"/>
          </a:solidFill>
          <a:ln w="12700">
            <a:solidFill>
              <a:schemeClr val="tx2"/>
            </a:solidFill>
            <a:prstDash val="solid"/>
          </a:ln>
        </p:spPr>
      </p:sp>
      <p:sp>
        <p:nvSpPr>
          <p:cNvPr id="23" name="Label contoh"/>
          <p:cNvSpPr txBox="1"/>
          <p:nvPr/>
        </p:nvSpPr>
        <p:spPr>
          <a:xfrm>
            <a:off x="1005840" y="4480560"/>
            <a:ext cx="4572000" cy="320040"/>
          </a:xfrm>
          <a:prstGeom prst="rect">
            <a:avLst/>
          </a:prstGeom>
          <a:noFill/>
          <a:ln/>
        </p:spPr>
        <p:txBody>
          <a:bodyPr wrap="square" lIns="0" tIns="0" rIns="0" bIns="0" rtlCol="0" anchor="ctr"/>
          <a:lstStyle/>
          <a:p>
            <a:pPr indent="0" marL="0">
              <a:buNone/>
            </a:pPr>
            <a:r>
              <a:rPr lang="en-US" sz="1400" b="1" dirty="0">
                <a:solidFill>
                  <a:schemeClr val="accent6"/>
                </a:solidFill>
              </a:rPr>
              <a:t>Contoh ucapan</a:t>
            </a:r>
            <a:endParaRPr lang="en-US" sz="1400" dirty="0"/>
          </a:p>
        </p:txBody>
      </p:sp>
      <p:sp>
        <p:nvSpPr>
          <p:cNvPr id="24" name="Kalimat contoh"/>
          <p:cNvSpPr txBox="1"/>
          <p:nvPr/>
        </p:nvSpPr>
        <p:spPr>
          <a:xfrm>
            <a:off x="1005840" y="4846320"/>
            <a:ext cx="10149840" cy="457200"/>
          </a:xfrm>
          <a:prstGeom prst="rect">
            <a:avLst/>
          </a:prstGeom>
          <a:noFill/>
          <a:ln/>
        </p:spPr>
        <p:txBody>
          <a:bodyPr wrap="square" lIns="0" tIns="0" rIns="0" bIns="0" rtlCol="0" anchor="ctr"/>
          <a:lstStyle/>
          <a:p>
            <a:pPr indent="0" marL="0">
              <a:buNone/>
            </a:pPr>
            <a:r>
              <a:rPr lang="en-US" sz="2200" i="1" dirty="0">
                <a:solidFill>
                  <a:schemeClr val="bg1"/>
                </a:solidFill>
              </a:rPr>
              <a:t>“Jual kopi dua puluh gelas, dapat seratus lima puluh ribu, tunai.”</a:t>
            </a:r>
            <a:endParaRPr lang="en-US" sz="2200" dirty="0"/>
          </a:p>
        </p:txBody>
      </p:sp>
      <p:sp>
        <p:nvSpPr>
          <p:cNvPr id="25" name="Hasil Pemasukan"/>
          <p:cNvSpPr/>
          <p:nvPr/>
        </p:nvSpPr>
        <p:spPr>
          <a:xfrm>
            <a:off x="1005840" y="5413248"/>
            <a:ext cx="1645920" cy="365760"/>
          </a:xfrm>
          <a:prstGeom prst="roundRect">
            <a:avLst>
              <a:gd name="adj" fmla="val 50000"/>
            </a:avLst>
          </a:prstGeom>
          <a:solidFill>
            <a:schemeClr val="accent5"/>
          </a:solidFill>
          <a:ln w="12700">
            <a:solidFill>
              <a:schemeClr val="accent6"/>
            </a:solidFill>
            <a:prstDash val="solid"/>
          </a:ln>
        </p:spPr>
      </p:sp>
      <p:sp>
        <p:nvSpPr>
          <p:cNvPr id="26" name="Teks hasil Pemasukan"/>
          <p:cNvSpPr txBox="1"/>
          <p:nvPr/>
        </p:nvSpPr>
        <p:spPr>
          <a:xfrm>
            <a:off x="1005840" y="5413248"/>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rPr>
              <a:t>Pemasukan</a:t>
            </a:r>
            <a:endParaRPr lang="en-US" sz="1400" dirty="0"/>
          </a:p>
        </p:txBody>
      </p:sp>
      <p:sp>
        <p:nvSpPr>
          <p:cNvPr id="27" name="Hasil Rp150.000"/>
          <p:cNvSpPr/>
          <p:nvPr/>
        </p:nvSpPr>
        <p:spPr>
          <a:xfrm>
            <a:off x="2834640" y="5413248"/>
            <a:ext cx="1645920" cy="365760"/>
          </a:xfrm>
          <a:prstGeom prst="roundRect">
            <a:avLst>
              <a:gd name="adj" fmla="val 50000"/>
            </a:avLst>
          </a:prstGeom>
          <a:solidFill>
            <a:schemeClr val="accent5"/>
          </a:solidFill>
          <a:ln w="12700">
            <a:solidFill>
              <a:schemeClr val="accent6"/>
            </a:solidFill>
            <a:prstDash val="solid"/>
          </a:ln>
        </p:spPr>
      </p:sp>
      <p:sp>
        <p:nvSpPr>
          <p:cNvPr id="28" name="Teks hasil Rp150.000"/>
          <p:cNvSpPr txBox="1"/>
          <p:nvPr/>
        </p:nvSpPr>
        <p:spPr>
          <a:xfrm>
            <a:off x="2834640" y="5413248"/>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rPr>
              <a:t>Rp150.000</a:t>
            </a:r>
            <a:endParaRPr lang="en-US" sz="1400" dirty="0"/>
          </a:p>
        </p:txBody>
      </p:sp>
      <p:sp>
        <p:nvSpPr>
          <p:cNvPr id="29" name="Hasil Penjualan"/>
          <p:cNvSpPr/>
          <p:nvPr/>
        </p:nvSpPr>
        <p:spPr>
          <a:xfrm>
            <a:off x="4663440" y="5413248"/>
            <a:ext cx="1645920" cy="365760"/>
          </a:xfrm>
          <a:prstGeom prst="roundRect">
            <a:avLst>
              <a:gd name="adj" fmla="val 50000"/>
            </a:avLst>
          </a:prstGeom>
          <a:solidFill>
            <a:schemeClr val="accent5"/>
          </a:solidFill>
          <a:ln w="12700">
            <a:solidFill>
              <a:schemeClr val="accent6"/>
            </a:solidFill>
            <a:prstDash val="solid"/>
          </a:ln>
        </p:spPr>
      </p:sp>
      <p:sp>
        <p:nvSpPr>
          <p:cNvPr id="30" name="Teks hasil Penjualan"/>
          <p:cNvSpPr txBox="1"/>
          <p:nvPr/>
        </p:nvSpPr>
        <p:spPr>
          <a:xfrm>
            <a:off x="4663440" y="5413248"/>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rPr>
              <a:t>Penjualan</a:t>
            </a:r>
            <a:endParaRPr lang="en-US" sz="1400" dirty="0"/>
          </a:p>
        </p:txBody>
      </p:sp>
      <p:sp>
        <p:nvSpPr>
          <p:cNvPr id="31" name="Hasil Tunai"/>
          <p:cNvSpPr/>
          <p:nvPr/>
        </p:nvSpPr>
        <p:spPr>
          <a:xfrm>
            <a:off x="6492240" y="5413248"/>
            <a:ext cx="1645920" cy="365760"/>
          </a:xfrm>
          <a:prstGeom prst="roundRect">
            <a:avLst>
              <a:gd name="adj" fmla="val 50000"/>
            </a:avLst>
          </a:prstGeom>
          <a:solidFill>
            <a:schemeClr val="accent5"/>
          </a:solidFill>
          <a:ln w="12700">
            <a:solidFill>
              <a:schemeClr val="accent6"/>
            </a:solidFill>
            <a:prstDash val="solid"/>
          </a:ln>
        </p:spPr>
      </p:sp>
      <p:sp>
        <p:nvSpPr>
          <p:cNvPr id="32" name="Teks hasil Tunai"/>
          <p:cNvSpPr txBox="1"/>
          <p:nvPr/>
        </p:nvSpPr>
        <p:spPr>
          <a:xfrm>
            <a:off x="6492240" y="5413248"/>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rPr>
              <a:t>Tunai</a:t>
            </a:r>
            <a:endParaRPr lang="en-US" sz="14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600" b="1" dirty="0">
                <a:solidFill>
                  <a:schemeClr val="tx2"/>
                </a:solidFill>
              </a:rPr>
              <a:t>Tampilan aplikasi</a:t>
            </a:r>
            <a:endParaRPr lang="en-US" sz="3600" dirty="0"/>
          </a:p>
        </p:txBody>
      </p:sp>
      <p:sp>
        <p:nvSpPr>
          <p:cNvPr id="3" name="Screenshot Dashboard bingkai"/>
          <p:cNvSpPr/>
          <p:nvPr/>
        </p:nvSpPr>
        <p:spPr>
          <a:xfrm>
            <a:off x="1508760" y="1325880"/>
            <a:ext cx="1828800" cy="3613743"/>
          </a:xfrm>
          <a:prstGeom prst="roundRect">
            <a:avLst>
              <a:gd name="adj" fmla="val 14000"/>
            </a:avLst>
          </a:prstGeom>
          <a:solidFill>
            <a:schemeClr val="tx1"/>
          </a:solidFill>
          <a:ln w="12700">
            <a:solidFill>
              <a:schemeClr val="tx1"/>
            </a:solidFill>
            <a:prstDash val="solid"/>
          </a:ln>
          <a:effectLst>
            <a:outerShdw sx="100000" sy="100000" kx="0" ky="0" algn="bl" rotWithShape="0" blurRad="177800" dist="50800" dir="5400000">
              <a:srgbClr val="000000">
                <a:alpha val="30000"/>
              </a:srgbClr>
            </a:outerShdw>
          </a:effectLst>
        </p:spPr>
      </p:sp>
      <p:pic>
        <p:nvPicPr>
          <p:cNvPr id="4" name="Screenshot Dashboard" descr="Screenshot Dashboard">    </p:cNvPr>
          <p:cNvPicPr>
            <a:picLocks noChangeAspect="1"/>
          </p:cNvPicPr>
          <p:nvPr/>
        </p:nvPicPr>
        <p:blipFill>
          <a:blip r:embed="rId1"/>
          <a:stretch>
            <a:fillRect/>
          </a:stretch>
        </p:blipFill>
        <p:spPr>
          <a:xfrm>
            <a:off x="1591056" y="1508760"/>
            <a:ext cx="1664208" cy="3220551"/>
          </a:xfrm>
          <a:prstGeom prst="rect">
            <a:avLst/>
          </a:prstGeom>
        </p:spPr>
      </p:pic>
      <p:sp>
        <p:nvSpPr>
          <p:cNvPr id="5" name="Judul Dashboard"/>
          <p:cNvSpPr txBox="1"/>
          <p:nvPr/>
        </p:nvSpPr>
        <p:spPr>
          <a:xfrm>
            <a:off x="640080" y="5076783"/>
            <a:ext cx="3566160" cy="365760"/>
          </a:xfrm>
          <a:prstGeom prst="rect">
            <a:avLst/>
          </a:prstGeom>
          <a:noFill/>
          <a:ln/>
        </p:spPr>
        <p:txBody>
          <a:bodyPr wrap="square" lIns="0" tIns="0" rIns="0" bIns="0" rtlCol="0" anchor="ctr"/>
          <a:lstStyle/>
          <a:p>
            <a:pPr algn="ctr" indent="0" marL="0">
              <a:buNone/>
            </a:pPr>
            <a:r>
              <a:rPr lang="en-US" sz="1800" b="1" dirty="0">
                <a:solidFill>
                  <a:schemeClr val="tx2"/>
                </a:solidFill>
              </a:rPr>
              <a:t>Dashboard</a:t>
            </a:r>
            <a:endParaRPr lang="en-US" sz="1800" dirty="0"/>
          </a:p>
        </p:txBody>
      </p:sp>
      <p:sp>
        <p:nvSpPr>
          <p:cNvPr id="6" name="Keterangan Dashboard"/>
          <p:cNvSpPr txBox="1"/>
          <p:nvPr/>
        </p:nvSpPr>
        <p:spPr>
          <a:xfrm>
            <a:off x="640080" y="5442543"/>
            <a:ext cx="3566160" cy="320040"/>
          </a:xfrm>
          <a:prstGeom prst="rect">
            <a:avLst/>
          </a:prstGeom>
          <a:noFill/>
          <a:ln/>
        </p:spPr>
        <p:txBody>
          <a:bodyPr wrap="square" lIns="0" tIns="0" rIns="0" bIns="0" rtlCol="0" anchor="ctr"/>
          <a:lstStyle/>
          <a:p>
            <a:pPr algn="ctr" indent="0" marL="0">
              <a:buNone/>
            </a:pPr>
            <a:r>
              <a:rPr lang="en-US" sz="1400" dirty="0">
                <a:solidFill>
                  <a:schemeClr val="tx1"/>
                </a:solidFill>
              </a:rPr>
              <a:t>Saldo, ringkasan hari ini, dan transaksi hari ini</a:t>
            </a:r>
            <a:endParaRPr lang="en-US" sz="1400" dirty="0"/>
          </a:p>
        </p:txBody>
      </p:sp>
      <p:sp>
        <p:nvSpPr>
          <p:cNvPr id="7" name="Screenshot Laporan Laba Rugi bingkai"/>
          <p:cNvSpPr/>
          <p:nvPr/>
        </p:nvSpPr>
        <p:spPr>
          <a:xfrm>
            <a:off x="5166360" y="1325880"/>
            <a:ext cx="1828800" cy="3613743"/>
          </a:xfrm>
          <a:prstGeom prst="roundRect">
            <a:avLst>
              <a:gd name="adj" fmla="val 14000"/>
            </a:avLst>
          </a:prstGeom>
          <a:solidFill>
            <a:schemeClr val="tx1"/>
          </a:solidFill>
          <a:ln w="12700">
            <a:solidFill>
              <a:schemeClr val="tx1"/>
            </a:solidFill>
            <a:prstDash val="solid"/>
          </a:ln>
          <a:effectLst>
            <a:outerShdw sx="100000" sy="100000" kx="0" ky="0" algn="bl" rotWithShape="0" blurRad="177800" dist="50800" dir="5400000">
              <a:srgbClr val="000000">
                <a:alpha val="30000"/>
              </a:srgbClr>
            </a:outerShdw>
          </a:effectLst>
        </p:spPr>
      </p:sp>
      <p:pic>
        <p:nvPicPr>
          <p:cNvPr id="8" name="Screenshot Laporan Laba Rugi" descr="Screenshot Laporan Laba Rugi">    </p:cNvPr>
          <p:cNvPicPr>
            <a:picLocks noChangeAspect="1"/>
          </p:cNvPicPr>
          <p:nvPr/>
        </p:nvPicPr>
        <p:blipFill>
          <a:blip r:embed="rId2"/>
          <a:stretch>
            <a:fillRect/>
          </a:stretch>
        </p:blipFill>
        <p:spPr>
          <a:xfrm>
            <a:off x="5248656" y="1508760"/>
            <a:ext cx="1664208" cy="3220551"/>
          </a:xfrm>
          <a:prstGeom prst="rect">
            <a:avLst/>
          </a:prstGeom>
        </p:spPr>
      </p:pic>
      <p:sp>
        <p:nvSpPr>
          <p:cNvPr id="9" name="Judul Laporan Laba Rugi"/>
          <p:cNvSpPr txBox="1"/>
          <p:nvPr/>
        </p:nvSpPr>
        <p:spPr>
          <a:xfrm>
            <a:off x="4297680" y="5076783"/>
            <a:ext cx="3566160" cy="365760"/>
          </a:xfrm>
          <a:prstGeom prst="rect">
            <a:avLst/>
          </a:prstGeom>
          <a:noFill/>
          <a:ln/>
        </p:spPr>
        <p:txBody>
          <a:bodyPr wrap="square" lIns="0" tIns="0" rIns="0" bIns="0" rtlCol="0" anchor="ctr"/>
          <a:lstStyle/>
          <a:p>
            <a:pPr algn="ctr" indent="0" marL="0">
              <a:buNone/>
            </a:pPr>
            <a:r>
              <a:rPr lang="en-US" sz="1800" b="1" dirty="0">
                <a:solidFill>
                  <a:schemeClr val="tx2"/>
                </a:solidFill>
              </a:rPr>
              <a:t>Laporan Laba Rugi</a:t>
            </a:r>
            <a:endParaRPr lang="en-US" sz="1800" dirty="0"/>
          </a:p>
        </p:txBody>
      </p:sp>
      <p:sp>
        <p:nvSpPr>
          <p:cNvPr id="10" name="Keterangan Laporan Laba Rugi"/>
          <p:cNvSpPr txBox="1"/>
          <p:nvPr/>
        </p:nvSpPr>
        <p:spPr>
          <a:xfrm>
            <a:off x="4297680" y="5442543"/>
            <a:ext cx="3566160" cy="320040"/>
          </a:xfrm>
          <a:prstGeom prst="rect">
            <a:avLst/>
          </a:prstGeom>
          <a:noFill/>
          <a:ln/>
        </p:spPr>
        <p:txBody>
          <a:bodyPr wrap="square" lIns="0" tIns="0" rIns="0" bIns="0" rtlCol="0" anchor="ctr"/>
          <a:lstStyle/>
          <a:p>
            <a:pPr algn="ctr" indent="0" marL="0">
              <a:buNone/>
            </a:pPr>
            <a:r>
              <a:rPr lang="en-US" sz="1400" dirty="0">
                <a:solidFill>
                  <a:schemeClr val="tx1"/>
                </a:solidFill>
              </a:rPr>
              <a:t>Laba, pendapatan, dan beban per kategori</a:t>
            </a:r>
            <a:endParaRPr lang="en-US" sz="1400" dirty="0"/>
          </a:p>
        </p:txBody>
      </p:sp>
      <p:sp>
        <p:nvSpPr>
          <p:cNvPr id="11" name="Screenshot Catat dengan Suara bingkai"/>
          <p:cNvSpPr/>
          <p:nvPr/>
        </p:nvSpPr>
        <p:spPr>
          <a:xfrm>
            <a:off x="8823960" y="1325880"/>
            <a:ext cx="1828800" cy="3613743"/>
          </a:xfrm>
          <a:prstGeom prst="roundRect">
            <a:avLst>
              <a:gd name="adj" fmla="val 14000"/>
            </a:avLst>
          </a:prstGeom>
          <a:solidFill>
            <a:schemeClr val="tx1"/>
          </a:solidFill>
          <a:ln w="12700">
            <a:solidFill>
              <a:schemeClr val="tx1"/>
            </a:solidFill>
            <a:prstDash val="solid"/>
          </a:ln>
          <a:effectLst>
            <a:outerShdw sx="100000" sy="100000" kx="0" ky="0" algn="bl" rotWithShape="0" blurRad="177800" dist="50800" dir="5400000">
              <a:srgbClr val="000000">
                <a:alpha val="30000"/>
              </a:srgbClr>
            </a:outerShdw>
          </a:effectLst>
        </p:spPr>
      </p:sp>
      <p:pic>
        <p:nvPicPr>
          <p:cNvPr id="12" name="Screenshot Catat dengan Suara" descr="Screenshot Catat dengan Suara">    </p:cNvPr>
          <p:cNvPicPr>
            <a:picLocks noChangeAspect="1"/>
          </p:cNvPicPr>
          <p:nvPr/>
        </p:nvPicPr>
        <p:blipFill>
          <a:blip r:embed="rId3"/>
          <a:stretch>
            <a:fillRect/>
          </a:stretch>
        </p:blipFill>
        <p:spPr>
          <a:xfrm>
            <a:off x="8906256" y="1508760"/>
            <a:ext cx="1664208" cy="3220551"/>
          </a:xfrm>
          <a:prstGeom prst="rect">
            <a:avLst/>
          </a:prstGeom>
        </p:spPr>
      </p:pic>
      <p:sp>
        <p:nvSpPr>
          <p:cNvPr id="13" name="Judul Catat dengan Suara"/>
          <p:cNvSpPr txBox="1"/>
          <p:nvPr/>
        </p:nvSpPr>
        <p:spPr>
          <a:xfrm>
            <a:off x="7955280" y="5076783"/>
            <a:ext cx="3566160" cy="365760"/>
          </a:xfrm>
          <a:prstGeom prst="rect">
            <a:avLst/>
          </a:prstGeom>
          <a:noFill/>
          <a:ln/>
        </p:spPr>
        <p:txBody>
          <a:bodyPr wrap="square" lIns="0" tIns="0" rIns="0" bIns="0" rtlCol="0" anchor="ctr"/>
          <a:lstStyle/>
          <a:p>
            <a:pPr algn="ctr" indent="0" marL="0">
              <a:buNone/>
            </a:pPr>
            <a:r>
              <a:rPr lang="en-US" sz="1800" b="1" dirty="0">
                <a:solidFill>
                  <a:schemeClr val="tx2"/>
                </a:solidFill>
              </a:rPr>
              <a:t>Catat dengan Suara</a:t>
            </a:r>
            <a:endParaRPr lang="en-US" sz="1800" dirty="0"/>
          </a:p>
        </p:txBody>
      </p:sp>
      <p:sp>
        <p:nvSpPr>
          <p:cNvPr id="14" name="Keterangan Catat dengan Suara"/>
          <p:cNvSpPr txBox="1"/>
          <p:nvPr/>
        </p:nvSpPr>
        <p:spPr>
          <a:xfrm>
            <a:off x="7955280" y="5442543"/>
            <a:ext cx="3566160" cy="320040"/>
          </a:xfrm>
          <a:prstGeom prst="rect">
            <a:avLst/>
          </a:prstGeom>
          <a:noFill/>
          <a:ln/>
        </p:spPr>
        <p:txBody>
          <a:bodyPr wrap="square" lIns="0" tIns="0" rIns="0" bIns="0" rtlCol="0" anchor="ctr"/>
          <a:lstStyle/>
          <a:p>
            <a:pPr algn="ctr" indent="0" marL="0">
              <a:buNone/>
            </a:pPr>
            <a:r>
              <a:rPr lang="en-US" sz="1400" dirty="0">
                <a:solidFill>
                  <a:schemeClr val="tx1"/>
                </a:solidFill>
              </a:rPr>
              <a:t>Formulir terisi otomatis dari ucapan</a:t>
            </a:r>
            <a:endParaRPr lang="en-US" sz="1400" dirty="0"/>
          </a:p>
        </p:txBody>
      </p:sp>
      <p:sp>
        <p:nvSpPr>
          <p:cNvPr id="25" name="Slide Number Placeholder 0"/>
          <p:cNvSpPr>
            <a:spLocks noGrp="1"/>
          </p:cNvSpPr>
          <p:nvPr>
            <p:ph type="sldNum" sz="quarter" idx="4294967295"/>
          </p:nvPr>
        </p:nvSpPr>
        <p:spPr>
          <a:xfrm>
            <a:off x="11064240" y="6263640"/>
            <a:ext cx="457200" cy="292608"/>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lIns="0" tIns="0" rIns="0" bIns="0" rtlCol="0" anchor="ctr"/>
          <a:lstStyle/>
          <a:p>
            <a:pPr algn="l" indent="0" marL="0">
              <a:buNone/>
            </a:pPr>
            <a:r>
              <a:rPr lang="en-US" sz="4400" b="1" dirty="0">
                <a:solidFill>
                  <a:schemeClr val="bg1"/>
                </a:solidFill>
              </a:rPr>
              <a:t>Mandiri mencatat, paham usahanya</a:t>
            </a:r>
            <a:endParaRPr lang="en-US" sz="4400" dirty="0"/>
          </a:p>
        </p:txBody>
      </p:sp>
      <p:sp>
        <p:nvSpPr>
          <p:cNvPr id="3" name="Cukup diucapkan lingkaran"/>
          <p:cNvSpPr/>
          <p:nvPr/>
        </p:nvSpPr>
        <p:spPr>
          <a:xfrm>
            <a:off x="731520" y="2514600"/>
            <a:ext cx="822960" cy="822960"/>
          </a:xfrm>
          <a:prstGeom prst="ellipse">
            <a:avLst/>
          </a:prstGeom>
          <a:solidFill>
            <a:schemeClr val="bg2"/>
          </a:solidFill>
          <a:ln w="12700">
            <a:solidFill>
              <a:schemeClr val="bg2"/>
            </a:solidFill>
            <a:prstDash val="solid"/>
          </a:ln>
        </p:spPr>
      </p:sp>
      <p:pic>
        <p:nvPicPr>
          <p:cNvPr id="4" name="Cukup diucapkan ikon" descr="preencoded.png">    </p:cNvPr>
          <p:cNvPicPr>
            <a:picLocks noChangeAspect="1"/>
          </p:cNvPicPr>
          <p:nvPr/>
        </p:nvPicPr>
        <p:blipFill>
          <a:blip r:embed="rId1"/>
          <a:stretch>
            <a:fillRect/>
          </a:stretch>
        </p:blipFill>
        <p:spPr>
          <a:xfrm>
            <a:off x="912571" y="2695651"/>
            <a:ext cx="460858" cy="460858"/>
          </a:xfrm>
          <a:prstGeom prst="rect">
            <a:avLst/>
          </a:prstGeom>
        </p:spPr>
      </p:pic>
      <p:sp>
        <p:nvSpPr>
          <p:cNvPr id="5" name="Ringkasan 1"/>
          <p:cNvSpPr txBox="1"/>
          <p:nvPr/>
        </p:nvSpPr>
        <p:spPr>
          <a:xfrm>
            <a:off x="731520" y="3520440"/>
            <a:ext cx="3291840" cy="411480"/>
          </a:xfrm>
          <a:prstGeom prst="rect">
            <a:avLst/>
          </a:prstGeom>
          <a:noFill/>
          <a:ln/>
        </p:spPr>
        <p:txBody>
          <a:bodyPr wrap="square" lIns="0" tIns="0" rIns="0" bIns="0" rtlCol="0" anchor="ctr"/>
          <a:lstStyle/>
          <a:p>
            <a:pPr indent="0" marL="0">
              <a:buNone/>
            </a:pPr>
            <a:r>
              <a:rPr lang="en-US" sz="2100" b="1" dirty="0">
                <a:solidFill>
                  <a:schemeClr val="bg1"/>
                </a:solidFill>
              </a:rPr>
              <a:t>Cukup diucapkan</a:t>
            </a:r>
            <a:endParaRPr lang="en-US" sz="2100" dirty="0"/>
          </a:p>
        </p:txBody>
      </p:sp>
      <p:sp>
        <p:nvSpPr>
          <p:cNvPr id="6" name="Isi ringkasan 1"/>
          <p:cNvSpPr txBox="1"/>
          <p:nvPr/>
        </p:nvSpPr>
        <p:spPr>
          <a:xfrm>
            <a:off x="731520" y="3959352"/>
            <a:ext cx="3291840" cy="731520"/>
          </a:xfrm>
          <a:prstGeom prst="rect">
            <a:avLst/>
          </a:prstGeom>
          <a:noFill/>
          <a:ln/>
        </p:spPr>
        <p:txBody>
          <a:bodyPr wrap="square" lIns="0" tIns="0" rIns="0" bIns="0" rtlCol="0" anchor="t"/>
          <a:lstStyle/>
          <a:p>
            <a:pPr indent="0" marL="0">
              <a:buNone/>
            </a:pPr>
            <a:r>
              <a:rPr lang="en-US" sz="1600" dirty="0">
                <a:solidFill>
                  <a:schemeClr val="accent6"/>
                </a:solidFill>
              </a:rPr>
              <a:t>Transaksi dicatat lewat suara, tanpa mengetik</a:t>
            </a:r>
            <a:endParaRPr lang="en-US" sz="1600" dirty="0"/>
          </a:p>
        </p:txBody>
      </p:sp>
      <p:sp>
        <p:nvSpPr>
          <p:cNvPr id="7" name="Untuk semua lingkaran"/>
          <p:cNvSpPr/>
          <p:nvPr/>
        </p:nvSpPr>
        <p:spPr>
          <a:xfrm>
            <a:off x="4389120" y="2514600"/>
            <a:ext cx="822960" cy="822960"/>
          </a:xfrm>
          <a:prstGeom prst="ellipse">
            <a:avLst/>
          </a:prstGeom>
          <a:solidFill>
            <a:schemeClr val="bg2"/>
          </a:solidFill>
          <a:ln w="12700">
            <a:solidFill>
              <a:schemeClr val="bg2"/>
            </a:solidFill>
            <a:prstDash val="solid"/>
          </a:ln>
        </p:spPr>
      </p:sp>
      <p:pic>
        <p:nvPicPr>
          <p:cNvPr id="8" name="Untuk semua ikon" descr="preencoded.png">    </p:cNvPr>
          <p:cNvPicPr>
            <a:picLocks noChangeAspect="1"/>
          </p:cNvPicPr>
          <p:nvPr/>
        </p:nvPicPr>
        <p:blipFill>
          <a:blip r:embed="rId2"/>
          <a:stretch>
            <a:fillRect/>
          </a:stretch>
        </p:blipFill>
        <p:spPr>
          <a:xfrm>
            <a:off x="4570171" y="2695651"/>
            <a:ext cx="460858" cy="460858"/>
          </a:xfrm>
          <a:prstGeom prst="rect">
            <a:avLst/>
          </a:prstGeom>
        </p:spPr>
      </p:pic>
      <p:sp>
        <p:nvSpPr>
          <p:cNvPr id="9" name="Ringkasan 2"/>
          <p:cNvSpPr txBox="1"/>
          <p:nvPr/>
        </p:nvSpPr>
        <p:spPr>
          <a:xfrm>
            <a:off x="4389120" y="3520440"/>
            <a:ext cx="3291840" cy="411480"/>
          </a:xfrm>
          <a:prstGeom prst="rect">
            <a:avLst/>
          </a:prstGeom>
          <a:noFill/>
          <a:ln/>
        </p:spPr>
        <p:txBody>
          <a:bodyPr wrap="square" lIns="0" tIns="0" rIns="0" bIns="0" rtlCol="0" anchor="ctr"/>
          <a:lstStyle/>
          <a:p>
            <a:pPr indent="0" marL="0">
              <a:buNone/>
            </a:pPr>
            <a:r>
              <a:rPr lang="en-US" sz="2100" b="1" dirty="0">
                <a:solidFill>
                  <a:schemeClr val="bg1"/>
                </a:solidFill>
              </a:rPr>
              <a:t>Untuk semua</a:t>
            </a:r>
            <a:endParaRPr lang="en-US" sz="2100" dirty="0"/>
          </a:p>
        </p:txBody>
      </p:sp>
      <p:sp>
        <p:nvSpPr>
          <p:cNvPr id="10" name="Isi ringkasan 2"/>
          <p:cNvSpPr txBox="1"/>
          <p:nvPr/>
        </p:nvSpPr>
        <p:spPr>
          <a:xfrm>
            <a:off x="4389120" y="3959352"/>
            <a:ext cx="3291840" cy="731520"/>
          </a:xfrm>
          <a:prstGeom prst="rect">
            <a:avLst/>
          </a:prstGeom>
          <a:noFill/>
          <a:ln/>
        </p:spPr>
        <p:txBody>
          <a:bodyPr wrap="square" lIns="0" tIns="0" rIns="0" bIns="0" rtlCol="0" anchor="t"/>
          <a:lstStyle/>
          <a:p>
            <a:pPr indent="0" marL="0">
              <a:buNone/>
            </a:pPr>
            <a:r>
              <a:rPr lang="en-US" sz="1600" dirty="0">
                <a:solidFill>
                  <a:schemeClr val="accent6"/>
                </a:solidFill>
              </a:rPr>
              <a:t>Bisa dipakai penuh dengan pembaca layar</a:t>
            </a:r>
            <a:endParaRPr lang="en-US" sz="1600" dirty="0"/>
          </a:p>
        </p:txBody>
      </p:sp>
      <p:sp>
        <p:nvSpPr>
          <p:cNvPr id="11" name="Jelas hasilnya lingkaran"/>
          <p:cNvSpPr/>
          <p:nvPr/>
        </p:nvSpPr>
        <p:spPr>
          <a:xfrm>
            <a:off x="8046720" y="2514600"/>
            <a:ext cx="822960" cy="822960"/>
          </a:xfrm>
          <a:prstGeom prst="ellipse">
            <a:avLst/>
          </a:prstGeom>
          <a:solidFill>
            <a:schemeClr val="bg2"/>
          </a:solidFill>
          <a:ln w="12700">
            <a:solidFill>
              <a:schemeClr val="bg2"/>
            </a:solidFill>
            <a:prstDash val="solid"/>
          </a:ln>
        </p:spPr>
      </p:sp>
      <p:pic>
        <p:nvPicPr>
          <p:cNvPr id="12" name="Jelas hasilnya ikon" descr="preencoded.png">    </p:cNvPr>
          <p:cNvPicPr>
            <a:picLocks noChangeAspect="1"/>
          </p:cNvPicPr>
          <p:nvPr/>
        </p:nvPicPr>
        <p:blipFill>
          <a:blip r:embed="rId3"/>
          <a:stretch>
            <a:fillRect/>
          </a:stretch>
        </p:blipFill>
        <p:spPr>
          <a:xfrm>
            <a:off x="8227771" y="2695651"/>
            <a:ext cx="460858" cy="460858"/>
          </a:xfrm>
          <a:prstGeom prst="rect">
            <a:avLst/>
          </a:prstGeom>
        </p:spPr>
      </p:pic>
      <p:sp>
        <p:nvSpPr>
          <p:cNvPr id="13" name="Ringkasan 3"/>
          <p:cNvSpPr txBox="1"/>
          <p:nvPr/>
        </p:nvSpPr>
        <p:spPr>
          <a:xfrm>
            <a:off x="8046720" y="3520440"/>
            <a:ext cx="3291840" cy="411480"/>
          </a:xfrm>
          <a:prstGeom prst="rect">
            <a:avLst/>
          </a:prstGeom>
          <a:noFill/>
          <a:ln/>
        </p:spPr>
        <p:txBody>
          <a:bodyPr wrap="square" lIns="0" tIns="0" rIns="0" bIns="0" rtlCol="0" anchor="ctr"/>
          <a:lstStyle/>
          <a:p>
            <a:pPr indent="0" marL="0">
              <a:buNone/>
            </a:pPr>
            <a:r>
              <a:rPr lang="en-US" sz="2100" b="1" dirty="0">
                <a:solidFill>
                  <a:schemeClr val="bg1"/>
                </a:solidFill>
              </a:rPr>
              <a:t>Jelas hasilnya</a:t>
            </a:r>
            <a:endParaRPr lang="en-US" sz="2100" dirty="0"/>
          </a:p>
        </p:txBody>
      </p:sp>
      <p:sp>
        <p:nvSpPr>
          <p:cNvPr id="14" name="Isi ringkasan 3"/>
          <p:cNvSpPr txBox="1"/>
          <p:nvPr/>
        </p:nvSpPr>
        <p:spPr>
          <a:xfrm>
            <a:off x="8046720" y="3959352"/>
            <a:ext cx="3291840" cy="731520"/>
          </a:xfrm>
          <a:prstGeom prst="rect">
            <a:avLst/>
          </a:prstGeom>
          <a:noFill/>
          <a:ln/>
        </p:spPr>
        <p:txBody>
          <a:bodyPr wrap="square" lIns="0" tIns="0" rIns="0" bIns="0" rtlCol="0" anchor="t"/>
          <a:lstStyle/>
          <a:p>
            <a:pPr indent="0" marL="0">
              <a:buNone/>
            </a:pPr>
            <a:r>
              <a:rPr lang="en-US" sz="1600" dirty="0">
                <a:solidFill>
                  <a:schemeClr val="accent6"/>
                </a:solidFill>
              </a:rPr>
              <a:t>Untung dan rugi terlihat setiap hari dan setiap bulan</a:t>
            </a:r>
            <a:endParaRPr lang="en-US" sz="1600" dirty="0"/>
          </a:p>
        </p:txBody>
      </p:sp>
      <p:pic>
        <p:nvPicPr>
          <p:cNvPr id="15" name="Logo penutup" descr="Logo Modio">    </p:cNvPr>
          <p:cNvPicPr>
            <a:picLocks noChangeAspect="1"/>
          </p:cNvPicPr>
          <p:nvPr/>
        </p:nvPicPr>
        <p:blipFill>
          <a:blip r:embed="rId4"/>
          <a:stretch>
            <a:fillRect/>
          </a:stretch>
        </p:blipFill>
        <p:spPr>
          <a:xfrm>
            <a:off x="731520" y="5349240"/>
            <a:ext cx="685800" cy="685800"/>
          </a:xfrm>
          <a:prstGeom prst="rect">
            <a:avLst/>
          </a:prstGeom>
        </p:spPr>
      </p:pic>
      <p:sp>
        <p:nvSpPr>
          <p:cNvPr id="16" name="Terima kasih"/>
          <p:cNvSpPr txBox="1"/>
          <p:nvPr/>
        </p:nvSpPr>
        <p:spPr>
          <a:xfrm>
            <a:off x="1600200" y="5349240"/>
            <a:ext cx="5486400" cy="685800"/>
          </a:xfrm>
          <a:prstGeom prst="rect">
            <a:avLst/>
          </a:prstGeom>
          <a:noFill/>
          <a:ln/>
        </p:spPr>
        <p:txBody>
          <a:bodyPr wrap="square" lIns="0" tIns="0" rIns="0" bIns="0" rtlCol="0" anchor="ctr"/>
          <a:lstStyle/>
          <a:p>
            <a:pPr indent="0" marL="0">
              <a:buNone/>
            </a:pPr>
            <a:r>
              <a:rPr lang="en-US" sz="2800" b="1" dirty="0">
                <a:solidFill>
                  <a:schemeClr val="bg1"/>
                </a:solidFill>
              </a:rPr>
              <a:t>Terima kasih</a:t>
            </a:r>
            <a:endParaRPr lang="en-US" sz="2800" dirty="0"/>
          </a:p>
        </p:txBody>
      </p:sp>
    </p:spTree>
  </p:cSld>
  <p:clrMapOvr>
    <a:masterClrMapping/>
  </p:clrMapOvr>
</p:sld>
</file>

<file path=ppt/theme/theme1.xml><?xml version="1.0" encoding="utf-8"?>
<a:theme xmlns:a="http://schemas.openxmlformats.org/drawingml/2006/main" name="Modio">
  <a:themeElements>
    <a:clrScheme name="Modio">
      <a:dk1>
        <a:srgbClr val="1A1A1A"/>
      </a:dk1>
      <a:lt1>
        <a:srgbClr val="FFFFFF"/>
      </a:lt1>
      <a:dk2>
        <a:srgbClr val="064E3B"/>
      </a:dk2>
      <a:lt2>
        <a:srgbClr val="ECFDF5"/>
      </a:lt2>
      <a:accent1>
        <a:srgbClr val="10B981"/>
      </a:accent1>
      <a:accent2>
        <a:srgbClr val="0C4A6E"/>
      </a:accent2>
      <a:accent3>
        <a:srgbClr val="0EA5E9"/>
      </a:accent3>
      <a:accent4>
        <a:srgbClr val="8F1515"/>
      </a:accent4>
      <a:accent5>
        <a:srgbClr val="03543F"/>
      </a:accent5>
      <a:accent6>
        <a:srgbClr val="34D399"/>
      </a:accent6>
      <a:hlink>
        <a:srgbClr val="075985"/>
      </a:hlink>
      <a:folHlink>
        <a:srgbClr val="03543F"/>
      </a:folHlink>
    </a:clrScheme>
    <a:fontScheme name="Modi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MODIO — Pencatatan Keuangan UMKM yang Aksesibel</dc:title>
  <dc:subject>PptxGenJS Presentation</dc:subject>
  <dc:creator>Tim Modio</dc:creator>
  <cp:lastModifiedBy>Tim Modio</cp:lastModifiedBy>
  <cp:revision>1</cp:revision>
  <dcterms:created xsi:type="dcterms:W3CDTF">2026-10-21T03:37:07Z</dcterms:created>
  <dcterms:modified xsi:type="dcterms:W3CDTF">2026-10-21T03:37:07Z</dcterms:modified>
</cp:coreProperties>
</file>